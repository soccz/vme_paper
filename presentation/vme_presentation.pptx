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1분]</a:t>
            </a:r>
          </a:p>
          <a:p/>
          <a:p>
            <a:r>
              <a:t>안녕하십니까. 오늘 발표할 논문은 "Value and Momentum Everywhere"입니다.</a:t>
            </a:r>
          </a:p>
          <a:p/>
          <a:p>
            <a:r>
              <a:t>이 논문은 2013년 Journal of Finance에 실린 논문으로, 금융학에서 가장 많이 인용되는 논문 중 하나입니다.</a:t>
            </a:r>
          </a:p>
          <a:p/>
          <a:p>
            <a:r>
              <a:t>저자 세 분은 모두 이 분야의 최고 권위자입니다.</a:t>
            </a:r>
          </a:p>
          <a:p>
            <a:r>
              <a:t>- Clifford Asness: AQR Capital Management 창립자, 시카고대 파마 교수의 제자</a:t>
            </a:r>
          </a:p>
          <a:p>
            <a:r>
              <a:t>- Tobias Moskowitz: 시카고대 교수, 모멘텀 연구의 대가</a:t>
            </a:r>
          </a:p>
          <a:p>
            <a:r>
              <a:t>- Lasse Pedersen: 뉴욕대 교수, 유동성 이론의 권위자</a:t>
            </a:r>
          </a:p>
          <a:p/>
          <a:p>
            <a:r>
              <a:t>이 논문의 핵심 질문은 단순합니다: "싼 걸 사고 오르는 걸 따라가는 전략이 미국 주식뿐 아니라 전 세계 모든 자산에서 통할까?"</a:t>
            </a:r>
          </a:p>
          <a:p/>
          <a:p>
            <a:r>
              <a:t>★ 결론부터 말씀드리면, "네, 어디에서나 통합니다." 그리고 그 이유를 탐구하는 것이 이 논문의 여정입니다.</a:t>
            </a:r>
          </a:p>
          <a:p/>
          <a:p>
            <a:r>
              <a:t>다음 슬라이드에서 오늘 발표의 전체 로드맵을 먼저 보여드리겠습니다.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1분]</a:t>
            </a:r>
          </a:p>
          <a:p/>
          <a:p>
            <a:r>
              <a:t>오늘 발표 구성을 먼저 말씀드리겠습니다.</a:t>
            </a:r>
          </a:p>
          <a:p/>
          <a:p>
            <a:r>
              <a:t>총 30분 발표에 10분 Q&amp;A로 진행됩니다.</a:t>
            </a:r>
          </a:p>
          <a:p/>
          <a:p>
            <a:r>
              <a:t>먼저 5분간 배경을 설명드립니다. Value와 Momentum이 뭔지 모르셔도 괜찮습니다. 마트 세일과 눈덩이 비유로 쉽게 시작하겠습니다.</a:t>
            </a:r>
          </a:p>
          <a:p/>
          <a:p>
            <a:r>
              <a:t>그다음 핵심 발견을 15분간 세 파트로 나눕니다.</a:t>
            </a:r>
          </a:p>
          <a:p>
            <a:r>
              <a:t>- 수익률: 8개 자산군 전부에서 돈을 벌 수 있는 패턴이 있다는 것</a:t>
            </a:r>
          </a:p>
          <a:p>
            <a:r>
              <a:t>- Comovement: 그 패턴들이 전 세계적으로 연결되어 있다는 놀라운 사실</a:t>
            </a:r>
          </a:p>
          <a:p>
            <a:r>
              <a:t>- 원인: 왜 이런 일이 벌어지는지에 대한 탐구</a:t>
            </a:r>
          </a:p>
          <a:p/>
          <a:p>
            <a:r>
              <a:t>5분간 Python으로 논문 결과를 재현한 결과를 보여드리고, 마지막 결론 후 질문 받겠습니다.</a:t>
            </a:r>
          </a:p>
          <a:p/>
          <a:p>
            <a:r>
              <a:t>★ 핵심은 이겁니다: 이 논문은 "가치와 모멘텀은 보편적 현상"이라는 강력한 주장을 하고, 그 증거와 이유를 체계적으로 제시합니다.</a:t>
            </a:r>
          </a:p>
          <a:p/>
          <a:p>
            <a:r>
              <a:t>자, 배경부터 시작하겠습니다.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2분]</a:t>
            </a:r>
          </a:p>
          <a:p/>
          <a:p>
            <a:r>
              <a:t>여러분, 만약 주식시장에서 돈 버는 공식이 있다면 믿으시겠습니까?</a:t>
            </a:r>
          </a:p>
          <a:p/>
          <a:p>
            <a:r>
              <a:t>학자들이 수십 년간 연구한 결과, 두 가지 패턴이 꽤 확실하게 확인되었습니다.</a:t>
            </a:r>
          </a:p>
          <a:p/>
          <a:p>
            <a:r>
              <a:t>첫 번째는 Value, 가치 투자입니다. 쉽게 말하면 "싼 거 사기"입니다.</a:t>
            </a:r>
          </a:p>
          <a:p>
            <a:r>
              <a:t>1992년 노벨상 수상자 유진 파마와 케네스 프렌치가 체계적으로 보여줬습니다.</a:t>
            </a:r>
          </a:p>
          <a:p>
            <a:r>
              <a:t>장부가치 대비 시장가치가 높은, 즉 시장이 저평가한 주식을 사면 장기적으로 수익이 좋다는 겁니다.</a:t>
            </a:r>
          </a:p>
          <a:p/>
          <a:p>
            <a:r>
              <a:t>두 번째는 Momentum, 모멘텀입니다. "오르는 걸 따라가기"입니다.</a:t>
            </a:r>
          </a:p>
          <a:p>
            <a:r>
              <a:t>1993년 Jegadeesh와 Titman이 발견했는데, 지난 1년간 많이 오른 주식이 앞으로도 계속 오르는 경향이 있다는 겁니다.</a:t>
            </a:r>
          </a:p>
          <a:p/>
          <a:p>
            <a:r>
              <a:t>★ 그런데 문제가 있었습니다. 이 연구들은 대부분 미국 주식시장에서만 이루어졌고, Value와 Momentum을 따로따로 분석했습니다. "미국만의 특이 현상 아닌가?"라는 의문이 계속 제기되었죠.</a:t>
            </a:r>
          </a:p>
          <a:p/>
          <a:p>
            <a:r>
              <a:t>다음 슬라이드에서 Value를 좀 더 직관적으로 이해해보겠습니다.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1분]</a:t>
            </a:r>
          </a:p>
          <a:p/>
          <a:p>
            <a:r>
              <a:t>Value 전략을 마트 세일에 비유해 보겠습니다.</a:t>
            </a:r>
          </a:p>
          <a:p/>
          <a:p>
            <a:r>
              <a:t>같은 세탁기가 A마트에서는 60만원, B마트에서는 100만원입니다. 왜 A마트에서 더 쌀까요? 두 가지 가능성이 있습니다. 진짜 고장났거나, 그냥 인기가 없어서 세일하는 겁니다.</a:t>
            </a:r>
          </a:p>
          <a:p/>
          <a:p>
            <a:r>
              <a:t>연구 결과, 대부분의 경우 "인기가 없어서" 싸진 거였습니다. 즉 세일 상품이 실제로 알짜인 경우가 더 많다는 거죠.</a:t>
            </a:r>
          </a:p>
          <a:p/>
          <a:p>
            <a:r>
              <a:t>주식도 마찬가지입니다. 장부가치 대비 시장가치, 즉 BE/ME라는 비율로 측정합니다.</a:t>
            </a:r>
          </a:p>
          <a:p>
            <a:r>
              <a:t>- 이 비율이 높으면 시장이 과소평가한 '싼 주식' — 이게 가치주입니다.</a:t>
            </a:r>
          </a:p>
          <a:p>
            <a:r>
              <a:t>- 이 비율이 낮으면 시장이 비싸게 치는 '인기 주식' — 성장주입니다.</a:t>
            </a:r>
          </a:p>
          <a:p/>
          <a:p>
            <a:r>
              <a:t>★ 이 논문의 중요한 기여 중 하나는, 주식뿐 아니라 비주식 자산에서도 Value 시그널을 정의했다는 점입니다. 표에서 보시듯이, 통화는 구매력평가(PPP) 괴리율을, 채권은 실질 수익률을 사용합니다.</a:t>
            </a:r>
          </a:p>
          <a:p/>
          <a:p>
            <a:r>
              <a:t>다음은 Momentum 전략입니다.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1분]</a:t>
            </a:r>
          </a:p>
          <a:p/>
          <a:p>
            <a:r>
              <a:t>두 번째 전략은 더 직관적입니다. Momentum, 모멘텀이라 합니다.</a:t>
            </a:r>
          </a:p>
          <a:p/>
          <a:p>
            <a:r>
              <a:t>눈덩이를 생각해보세요. 언덕에서 굴리기 시작하면, 처음에는 작지만 점점 커집니다. 주식도 비슷합니다 — 한번 오르기 시작하면 계속 오르는 경향이 있다는 겁니다.</a:t>
            </a:r>
          </a:p>
          <a:p/>
          <a:p>
            <a:r>
              <a:t>이걸 학문적으로는 MOM2-12라고 표기하는데, 과거 12개월의 수익률에서 최근 1개월을 빼는 겁니다.</a:t>
            </a:r>
          </a:p>
          <a:p/>
          <a:p>
            <a:r>
              <a:t>여기서 질문 하나 드릴게요. 왜 최근 1개월을 뺄까요?</a:t>
            </a:r>
          </a:p>
          <a:p/>
          <a:p>
            <a:r>
              <a:t>그건 "단기 반전 효과" 때문입니다. 아주 짧은 기간에는 주가가 반대 방향으로 튀는 경향이 있거든요. 이 잡음을 빼야 순수한 추세를 포착할 수 있습니다.</a:t>
            </a:r>
          </a:p>
          <a:p/>
          <a:p>
            <a:r>
              <a:t>★ 표를 보시면, Value와 Momentum은 거의 정반대의 전략입니다.</a:t>
            </a:r>
          </a:p>
          <a:p>
            <a:r>
              <a:t>Value는 떨어진 걸 사고, Momentum은 오른 걸 삽니다. 이 "반대 성격"이 나중에 아주 중요한 발견으로 이어집니다.</a:t>
            </a:r>
          </a:p>
          <a:p/>
          <a:p>
            <a:r>
              <a:t>다음 슬라이드에서 이 논문이 기존 연구와 무엇이 다른지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1분]</a:t>
            </a:r>
          </a:p>
          <a:p/>
          <a:p>
            <a:r>
              <a:t>자 이제 논문의 핵심 질문입니다.</a:t>
            </a:r>
          </a:p>
          <a:p/>
          <a:p>
            <a:r>
              <a:t>기존 연구의 가장 큰 약점은 뭐였을까요? 거의 모든 연구가 미국 주식시장에서만 이루어졌다는 겁니다.</a:t>
            </a:r>
          </a:p>
          <a:p/>
          <a:p>
            <a:r>
              <a:t>비판자들은 이렇게 말했습니다: "미국은 세계 최대 시장이니까 특이한 거 아닌가? 다른 나라에서도 되나?"</a:t>
            </a:r>
          </a:p>
          <a:p/>
          <a:p>
            <a:r>
              <a:t>이 논문은 이 질문에 정면으로 답합니다. 화면에 보시는 8개 자산군을 전부 테스트했습니다.</a:t>
            </a:r>
          </a:p>
          <a:p/>
          <a:p>
            <a:r>
              <a:t>빨간색 박스는 개별 주식입니다 — 미국, 영국, 유럽, 일본. 이것만으로도 기존보다 훨씬 넓죠.</a:t>
            </a:r>
          </a:p>
          <a:p/>
          <a:p>
            <a:r>
              <a:t>하지만 진짜 혁신은 금색 박스입니다. 주식이 아닌 자산 — 국가 주식지수, 통화, 국채, 원자재에서도 Value와 Momentum을 테스트한 겁니다.</a:t>
            </a:r>
          </a:p>
          <a:p/>
          <a:p>
            <a:r>
              <a:t>★ 1972년부터 2011년까지 40년 데이터를 사용했으며, 이 정도 규모의 다자산 검증은 이 논문이 최초였습니다.</a:t>
            </a:r>
          </a:p>
          <a:p/>
          <a:p>
            <a:r>
              <a:t>다음부터 핵심 발견을 하나씩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1분30초]</a:t>
            </a:r>
          </a:p>
          <a:p/>
          <a:p>
            <a:r>
              <a:t>실험 방법을 간단히 설명드리겠습니다.</a:t>
            </a:r>
          </a:p>
          <a:p/>
          <a:p>
            <a:r>
              <a:t>4단계로 진행됩니다.</a:t>
            </a:r>
          </a:p>
          <a:p/>
          <a:p>
            <a:r>
              <a:t>첫째, 각 자산의 Value 또는 Momentum 시그널을 계산합니다. 주식이면 BE/ME, 통화면 PPP 괴리율 같은 것이죠.</a:t>
            </a:r>
          </a:p>
          <a:p/>
          <a:p>
            <a:r>
              <a:t>둘째, 이 시그널로 전체 자산을 세 그룹으로 나눕니다. 상위 1/3이 P3, 하위 1/3이 P1입니다.</a:t>
            </a:r>
          </a:p>
          <a:p/>
          <a:p>
            <a:r>
              <a:t>셋째, P3을 사고 P1을 팝니다. 이 차이가 프리미엄입니다. 돈을 안 넣고 시작하는 zero-investment portfolio이죠.</a:t>
            </a:r>
          </a:p>
          <a:p/>
          <a:p>
            <a:r>
              <a:t>넷째, 이 프리미엄이 통계적으로 유의한지 확인합니다.</a:t>
            </a:r>
          </a:p>
          <a:p/>
          <a:p>
            <a:r>
              <a:t>오른쪽에 보시는 Signal-Weighted Factor는 좀 더 정교한 방법입니다. 3등분 대신 각 자산의 rank에 비례해 가중치를 주는 거죠. 결과적으로 더 세밀한 정보를 활용할 수 있습니다.</a:t>
            </a:r>
          </a:p>
          <a:p/>
          <a:p>
            <a:r>
              <a:t>★ 하단의 통계 개념 세 가지만 기억해주세요.</a:t>
            </a:r>
          </a:p>
          <a:p>
            <a:r>
              <a:t>- t-stat이 2보다 크면 "우연이 아니다"</a:t>
            </a:r>
          </a:p>
          <a:p>
            <a:r>
              <a:t>- Sharpe ratio가 0.5 이상이면 "꽤 좋은 전략"</a:t>
            </a:r>
          </a:p>
          <a:p>
            <a:r>
              <a:t>- GRS test는 "알파가 진짜 있는가"를 검증합니다.</a:t>
            </a:r>
          </a:p>
          <a:p/>
          <a:p>
            <a:r>
              <a:t>이제 결과를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2분]</a:t>
            </a:r>
          </a:p>
          <a:p/>
          <a:p>
            <a:r>
              <a:t>결과를 보겠습니다. Table I입니다.</a:t>
            </a:r>
          </a:p>
          <a:p/>
          <a:p>
            <a:r>
              <a:t>표를 읽는 법부터 말씀드리겠습니다. Mean은 연간 평균 수익률, t-stat은 통계적 유의성 — 2 이상이면 유의합니다 — Sharpe ratio는 위험 대비 수익입니다.</a:t>
            </a:r>
          </a:p>
          <a:p/>
          <a:p>
            <a:r>
              <a:t>먼저 Value를 보세요. 미국 3.8%, 영국 5.4%, 유럽 6.4%, 일본 6.0%. 모든 나라에서 양(+)이고, t-stat도 대부분 3 이상으로 매우 유의합니다.</a:t>
            </a:r>
          </a:p>
          <a:p/>
          <a:p>
            <a:r>
              <a:t>Momentum도 마찬가지입니다. 미국 7.8%, 영국 9.3%, 유럽 9.4%. 모두 유의하죠.</a:t>
            </a:r>
          </a:p>
          <a:p/>
          <a:p>
            <a:r>
              <a:t>★ 그런데 일본이 재미있습니다. Value는 Sharpe 0.77로 4개국 중 가장 강한데, Momentum은 Sharpe 0.13으로 거의 작동하지 않습니다. t-stat도 0.72로 유의하지 않습니다.</a:t>
            </a:r>
          </a:p>
          <a:p/>
          <a:p>
            <a:r>
              <a:t>이건 왜일까요? 논문에서도 완벽한 답을 주진 않지만, 일본 시장의 구조적 특성 — 예를 들어 기업 간 교차 소유 구조, 버블 붕괴 이후의 장기 하락 등 — 이 영향을 미쳤을 가능성을 언급합니다.</a:t>
            </a:r>
          </a:p>
          <a:p/>
          <a:p>
            <a:r>
              <a:t>다음은 주식이 아닌 자산에서의 결과입니다.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1분30초]</a:t>
            </a:r>
          </a:p>
          <a:p/>
          <a:p>
            <a:r>
              <a:t>여기서 놀라운 점은, 주식이 아닌 자산에서도 같은 패턴이 나타난다는 겁니다.</a:t>
            </a:r>
          </a:p>
          <a:p/>
          <a:p>
            <a:r>
              <a:t>국가 주식지수를 보세요. 18개국의 MSCI 지수를 대상으로 했는데, Value Sharpe 0.37, Momentum Sharpe 0.46입니다. 개별 주식만큼 강하지는 않지만 분명히 존재합니다.</a:t>
            </a:r>
          </a:p>
          <a:p/>
          <a:p>
            <a:r>
              <a:t>통화도 마찬가지입니다. 10개 선진국 통화에서 Value와 Momentum이 모두 양(+)입니다.</a:t>
            </a:r>
          </a:p>
          <a:p/>
          <a:p>
            <a:r>
              <a:t>★ 채권만 좀 약한데요, 이건 시그널 설계의 한계입니다. 논문에서도 인정하고, 대안 지표를 쓰면 개선된다고 보여줍니다.</a:t>
            </a:r>
          </a:p>
          <a:p/>
          <a:p>
            <a:r>
              <a:t>원자재에서도 통합니다. 27개 상품선물에서 Value Sharpe 0.38, Momentum Sharpe 0.34.</a:t>
            </a:r>
          </a:p>
          <a:p/>
          <a:p>
            <a:r>
              <a:t>여러분, 이게 왜 중요한지 아시겠습니까? 주식 시장의 개별 종목에서만 되는 게 아니라, 완전히 다른 성격의 자산 — 통화, 채권, 원자재 — 에서도 같은 패턴이 나타난다는 건, "뭔가 더 근본적인 원인이 있다"는 뜻입니다.</a:t>
            </a:r>
          </a:p>
          <a:p/>
          <a:p>
            <a:r>
              <a:t>다음은 이 논문에서 가장 중요한 발견인 "마법의 조합"입니다.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1분]</a:t>
            </a:r>
          </a:p>
          <a:p/>
          <a:p>
            <a:r>
              <a:t>아까 채권이 약하다고 했는데, 사실 측정 방법의 문제입니다.</a:t>
            </a:r>
          </a:p>
          <a:p/>
          <a:p>
            <a:r>
              <a:t>기본 시그널인 5년 금리 변화의 역수만 쓰면 Sharpe가 0.18밖에 안 됩니다. "채권에는 Value 효과가 없다"는 인상을 줍니다.</a:t>
            </a:r>
          </a:p>
          <a:p/>
          <a:p>
            <a:r>
              <a:t>하지만 실질 채권 수익률 — 명목 금리에서 인플레이션 전망을 뺀 값 — 을 쓰면 Sharpe가 0.73으로 주식 수준에 근접합니다.</a:t>
            </a:r>
          </a:p>
          <a:p/>
          <a:p>
            <a:r>
              <a:t>세 시그널을 합친 복합 지표는 0.87입니다.</a:t>
            </a:r>
          </a:p>
          <a:p/>
          <a:p>
            <a:r>
              <a:t>★ 이건 단순히 채권 얘기가 아닙니다. 어떤 시그널을 쓰느냐가 전략의 성패를 좌우한다는 메시지입니다. 파이낸스 연구에서 시그널 엔지니어링이 왜 중요한지를 잘 보여주는 예입니다.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2분]</a:t>
            </a:r>
          </a:p>
          <a:p/>
          <a:p>
            <a:r>
              <a:t>이제 이 논문에서 가장 중요한 발견입니다. 제가 개인적으로 이 논문의 가장 큰 기여라고 생각하는 부분입니다.</a:t>
            </a:r>
          </a:p>
          <a:p/>
          <a:p>
            <a:r>
              <a:t>Value와 Momentum을 따로 쓰면 각각 괜찮습니다. 그런데 둘을 50:50으로 합치면? 놀라운 일이 벌어집니다.</a:t>
            </a:r>
          </a:p>
          <a:p/>
          <a:p>
            <a:r>
              <a:t>표를 보세요. US 주식에서 Value Sharpe 0.49, Momentum 0.61인데, 합치면 0.89입니다. 46% 개선이죠.</a:t>
            </a:r>
          </a:p>
          <a:p/>
          <a:p>
            <a:r>
              <a:t>영국은 더 극적입니다. 합치면 Sharpe 1.00 — 위험 대비 수익이 1이라는 뜻인데, 이건 실무에서 매우 뛰어난 수치입니다.</a:t>
            </a:r>
          </a:p>
          <a:p/>
          <a:p>
            <a:r>
              <a:t>★ 마지막 행을 보세요. 모든 자산군을 글로벌로 합치면 Sharpe 1.59입니다. 이건 정말 놀라운 숫자입니다.</a:t>
            </a:r>
          </a:p>
          <a:p/>
          <a:p>
            <a:r>
              <a:t>여기서 질문 드릴게요. 왜 합치면 더 좋아질까요? 단순히 분산투자 효과일까요?</a:t>
            </a:r>
          </a:p>
          <a:p/>
          <a:p>
            <a:r>
              <a:t>아닙니다. 핵심은 "음의 상관관계"입니다. Value와 Momentum의 상관계수가 약 -0.55입니다. 즉 Value가 안 좋을 때 Momentum이 좋고, Momentum이 안 좋을 때 Value가 좋습니다.</a:t>
            </a:r>
          </a:p>
          <a:p/>
          <a:p>
            <a:r>
              <a:t>다음 슬라이드에서 왜 이런 관계가 생기는지 직관적으로 설명드리겠습니다.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1분30초]</a:t>
            </a:r>
          </a:p>
          <a:p/>
          <a:p>
            <a:r>
              <a:t>왜 이 조합이 좋은 걸까요? 아주 간단한 비유를 하나 드리겠습니다.</a:t>
            </a:r>
          </a:p>
          <a:p/>
          <a:p>
            <a:r>
              <a:t>여러분이 장사를 한다고 해봅시다. 우산 장사만 하면? 비 오는 날은 좋지만 맑은 날은 매출이 없습니다. 아이스크림 장사만 하면? 맑은 날은 좋지만 비 오면 손해죠.</a:t>
            </a:r>
          </a:p>
          <a:p/>
          <a:p>
            <a:r>
              <a:t>그런데 둘 다 하면? 비가 오든 맑든 안정적인 수입이 생깁니다.</a:t>
            </a:r>
          </a:p>
          <a:p/>
          <a:p>
            <a:r>
              <a:t>Value와 Momentum이 정확히 이 관계입니다.</a:t>
            </a:r>
          </a:p>
          <a:p>
            <a:r>
              <a:t>- Value는 역발상입니다. 시장이 공포에 빠져 주가가 폭락할 때, 가치주는 "원래 싸니까" 덜 떨어지고 오히려 기회가 됩니다.</a:t>
            </a:r>
          </a:p>
          <a:p>
            <a:r>
              <a:t>- Momentum은 추세추종입니다. 시장이 좋을 때 탄력적으로 수익을 냅니다.</a:t>
            </a:r>
          </a:p>
          <a:p/>
          <a:p>
            <a:r>
              <a:t>★ 이 두 전략의 상관계수가 -0.55라는 건, 한쪽이 안 좋을 때 다른 쪽이 좋을 확률이 매우 높다는 뜻입니다. 이게 합쳤을 때 Sharpe가 급상승하는 수학적 이유입니다.</a:t>
            </a:r>
          </a:p>
          <a:p/>
          <a:p>
            <a:r>
              <a:t>그래프를 보시면 Combo(파란선)가 Value나 Momentum 개별보다 훨씬 안정적으로 올라가는 것을 확인할 수 있습니다.</a:t>
            </a:r>
          </a:p>
          <a:p/>
          <a:p>
            <a:r>
              <a:t>이제 Comovement — 전 세계적으로 같이 움직인다는 발견으로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2분]</a:t>
            </a:r>
          </a:p>
          <a:p/>
          <a:p>
            <a:r>
              <a:t>여기서 더 놀라운 게 나옵니다.</a:t>
            </a:r>
          </a:p>
          <a:p/>
          <a:p>
            <a:r>
              <a:t>질문을 하나 드릴게요. 미국 주식의 Value 전략과 일본 주식의 Value 전략이 서로 관련이 있을까요? 심지어 미국 주식의 Value와 원자재의 Value는? 관련이 있을까요?</a:t>
            </a:r>
          </a:p>
          <a:p/>
          <a:p>
            <a:r>
              <a:t>놀랍게도, 있습니다.</a:t>
            </a:r>
          </a:p>
          <a:p/>
          <a:p>
            <a:r>
              <a:t>표를 보세요.</a:t>
            </a:r>
          </a:p>
          <a:p>
            <a:r>
              <a:t>- Value끼리의 상관계수: +0.60. 한 시장에서 Value가 좋으면 다른 시장에서도 좋습니다.</a:t>
            </a:r>
          </a:p>
          <a:p>
            <a:r>
              <a:t>- Momentum끼리도: +0.64. 같이 움직입니다.</a:t>
            </a:r>
          </a:p>
          <a:p>
            <a:r>
              <a:t>- Value와 Momentum 사이: -0.54. 반대로 움직입니다.</a:t>
            </a:r>
          </a:p>
          <a:p/>
          <a:p>
            <a:r>
              <a:t>★ 특히 주목할 것은 맨 아래 두 행입니다. 주식의 Value와 비주식(통화, 채권, 원자재)의 Value도 양의 상관관계를 보입니다. 이건 정말 놀라운 발견입니다.</a:t>
            </a:r>
          </a:p>
          <a:p/>
          <a:p>
            <a:r>
              <a:t>왜 놀라운가? 기존 이론으로는 이걸 설명할 수 없기 때문입니다.</a:t>
            </a:r>
          </a:p>
          <a:p>
            <a:r>
              <a:t>- 행동재무학은 "미국 투자자의 편향"으로 설명하려 했는데, 전 세계 모든 자산에서 같이 움직인다면 미국 투자자 편향으로는 부족합니다.</a:t>
            </a:r>
          </a:p>
          <a:p>
            <a:r>
              <a:t>- 합리적 이론은 "기업의 투자 결정"으로 설명하려 했는데, 통화와 원자재에는 기업이 없습니다.</a:t>
            </a:r>
          </a:p>
          <a:p/>
          <a:p>
            <a:r>
              <a:t>다음 슬라이드에서 이 공통 요인의 정체를 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[빠르게, 30초]</a:t>
            </a:r>
          </a:p>
          <a:p/>
          <a:p>
            <a:r>
              <a:t>Panel B는 개별 자산군 간 상세 상관입니다.</a:t>
            </a:r>
          </a:p>
          <a:p/>
          <a:p>
            <a:r>
              <a:t>표의 핵심 메시지는 세 가지입니다.</a:t>
            </a:r>
          </a:p>
          <a:p/>
          <a:p>
            <a:r>
              <a:t>첫째, 같은 유형(Val↔Val, Mom↔Mom)은 자산군을 넘어서도 양의 상관을 보입니다. 공통 요인이 존재한다는 증거입니다.</a:t>
            </a:r>
          </a:p>
          <a:p/>
          <a:p>
            <a:r>
              <a:t>둘째, 다른 유형(Val↔Mom) 교차는 자산군을 넘어서도 음의 상관입니다. 글로벌 Value-Momentum 반전 구조가 국경을 초월합니다.</a:t>
            </a:r>
          </a:p>
          <a:p/>
          <a:p>
            <a:r>
              <a:t>★ 특히 흥미로운 점은 주식 Value와 통화 Momentum이 -0.20으로 유의하게 음의 상관을 보인다는 것입니다. 주식 시장의 가치 요인과 FX 시장의 추세 요인이 반대로 움직인다 — 이게 진정한 다자산 통합 증거입니다.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2분]</a:t>
            </a:r>
          </a:p>
          <a:p/>
          <a:p>
            <a:r>
              <a:t>이 결과의 의미가 뭘까요? 주성분 분석이라는 통계 기법으로 깊이 들어가 봅니다.</a:t>
            </a:r>
          </a:p>
          <a:p/>
          <a:p>
            <a:r>
              <a:t>주성분 분석은 쉽게 말해 "여러 변수에서 공통된 움직임을 추출하는 것"입니다.</a:t>
            </a:r>
          </a:p>
          <a:p/>
          <a:p>
            <a:r>
              <a:t>8개 자산군의 Value와 Momentum, 총 16개의 팩터를 넣고 주성분 분석을 하면, 첫 번째 주성분 하나가 전체 변동의 54%를 설명합니다. 이건 매우 높은 수치입니다.</a:t>
            </a:r>
          </a:p>
          <a:p/>
          <a:p>
            <a:r>
              <a:t>★ 더 중요한 건 이 첫 번째 주성분의 "로딩" 패턴입니다.</a:t>
            </a:r>
          </a:p>
          <a:p>
            <a:r>
              <a:t>- 모든 Value factor가 양(+)으로 로딩됩니다.</a:t>
            </a:r>
          </a:p>
          <a:p>
            <a:r>
              <a:t>- 모든 Momentum factor가 음(-)으로 로딩됩니다.</a:t>
            </a:r>
          </a:p>
          <a:p/>
          <a:p>
            <a:r>
              <a:t>이것은 "글로벌 Value-Momentum 요인"이 하나 존재하고, 이 요인이 전 세계 모든 시장에서 Value는 같은 방향으로, Momentum은 반대 방향으로 움직이게 만든다는 뜻입니다.</a:t>
            </a:r>
          </a:p>
          <a:p/>
          <a:p>
            <a:r>
              <a:t>이건 기존 어떤 이론으로도 완전히 설명되지 않습니다. 그래서 논문의 다음 파트에서 "왜?"를 탐구합니다.</a:t>
            </a:r>
          </a:p>
          <a:p/>
          <a:p>
            <a:r>
              <a:t>다음은 유동성 리스크라는 부분적 답을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1분30초]</a:t>
            </a:r>
          </a:p>
          <a:p/>
          <a:p>
            <a:r>
              <a:t>매크로 변수와의 관계를 봅시다.</a:t>
            </a:r>
          </a:p>
          <a:p/>
          <a:p>
            <a:r>
              <a:t>Table III는 Value와 Momentum 수익률을 거시경제 변수들에 회귀한 결과입니다.</a:t>
            </a:r>
          </a:p>
          <a:p/>
          <a:p>
            <a:r>
              <a:t>가장 중요한 행은 DEF — 신용 스프레드입니다. DEF가 올라간다는 건 기업 부도 위험이 커진다는 뜻이죠. 이때 Value는 양(+), Momentum은 음(-) 반응을 보입니다. 위기 시 음의 상관관계가 매크로 회귀에서도 확인됩니다.</a:t>
            </a:r>
          </a:p>
          <a:p/>
          <a:p>
            <a:r>
              <a:t>Recession 더미를 보면, 경기침체 시 Momentum이 통계적으로 유의하게 하락합니다. Value도 부정적이지만 덜 유의합니다.</a:t>
            </a:r>
          </a:p>
          <a:p/>
          <a:p>
            <a:r>
              <a:t>TERM은 둘 다 양(+)입니다. 장기채 수익이 좋을 때 — 즉 금리가 내릴 때 — 둘 다 좋은 경향이 있습니다.</a:t>
            </a:r>
          </a:p>
          <a:p/>
          <a:p>
            <a:r>
              <a:t>★ 정리하면: 매크로 환경이 Value와 Momentum에 체계적으로 다른 영향을 줍니다. 이것이 음의 상관관계의 근원 중 하나입니다.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2분]</a:t>
            </a:r>
          </a:p>
          <a:p/>
          <a:p>
            <a:r>
              <a:t>그러면 왜 이런 패턴이 생기는 걸까요? 논문은 유동성 리스크를 하나의 답으로 제시합니다.</a:t>
            </a:r>
          </a:p>
          <a:p/>
          <a:p>
            <a:r>
              <a:t>1998년을 기억하시나요? 노벨상 수상자 머튼과 숄즈가 만든 LTCM이라는 초대형 헤지펀드가 파산한 사건입니다. 러시아 채무불이행이 방아쇠였죠.</a:t>
            </a:r>
          </a:p>
          <a:p/>
          <a:p>
            <a:r>
              <a:t>이때 무슨 일이 벌어졌느냐 하면, 모멘텀 전략이 3개월 만에 40% 가까이 폭락했습니다. 반면 가치 전략은 상대적으로 버텼습니다.</a:t>
            </a:r>
          </a:p>
          <a:p/>
          <a:p>
            <a:r>
              <a:t>왜 그럴까요?</a:t>
            </a:r>
          </a:p>
          <a:p/>
          <a:p>
            <a:r>
              <a:t>모멘텀 전략은 "인기 있는 거래"입니다. 많은 사람이 같은 포지션을 잡고 있죠. 유동성 위기가 오면 모두가 동시에 출구로 몰립니다. 문이 좁으니까 가격이 폭락하는 겁니다.</a:t>
            </a:r>
          </a:p>
          <a:p/>
          <a:p>
            <a:r>
              <a:t>반면 Value 전략은 역발상입니다. "남들이 싫어하는 걸 사는 것"이니까 상대적으로 덜 crowded합니다. 위기에도 탈출 압박이 적죠.</a:t>
            </a:r>
          </a:p>
          <a:p/>
          <a:p>
            <a:r>
              <a:t>★ 이 비대칭적 유동성 노출이 Value와 Momentum의 음의 상관관계를 만든다는 게 논문의 가설입니다.</a:t>
            </a:r>
          </a:p>
          <a:p/>
          <a:p>
            <a:r>
              <a:t>하지만 논문도 솔직합니다. 유동성 변수의 설명력은 R² 5% 미만으로, "퍼즐의 한 조각일 뿐"이라고 인정합니다.</a:t>
            </a:r>
          </a:p>
          <a:p/>
          <a:p>
            <a:r>
              <a:t>다음 슬라이드에서 실제 데이터를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1분30초]</a:t>
            </a:r>
          </a:p>
          <a:p/>
          <a:p>
            <a:r>
              <a:t>실제 데이터를 보면, 패턴이 분명합니다.</a:t>
            </a:r>
          </a:p>
          <a:p/>
          <a:p>
            <a:r>
              <a:t>왼쪽 그래프는 거시경제 변수와 수익률의 관계를 보여줍니다. TED spread가 높아지면 — 즉 은행 간 신용 위험이 커지면 — Value 수익은 올라가고 Momentum 수익은 떨어집니다.</a:t>
            </a:r>
          </a:p>
          <a:p/>
          <a:p>
            <a:r>
              <a:t>오른쪽 표에서 정리했는데, TED spread, VIX, GDP 성장률 모두에서 같은 패턴이 나타납니다. 위기 상황에서 Value는 상대적으로 안전하고, Momentum은 위험합니다.</a:t>
            </a:r>
          </a:p>
          <a:p/>
          <a:p>
            <a:r>
              <a:t>★ 하지만 여기서 중요한 점: R²가 5% 미만입니다. 즉 유동성 변수들이 설명하는 비율이 매우 작다는 뜻입니다.</a:t>
            </a:r>
          </a:p>
          <a:p/>
          <a:p>
            <a:r>
              <a:t>논문은 이 점을 솔직하게 인정합니다. "유동성은 퍼즐의 한 조각이다." 나머지는 아직 밝혀지지 않았습니다.</a:t>
            </a:r>
          </a:p>
          <a:p/>
          <a:p>
            <a:r>
              <a:t>이제 마지막 핵심 발견인 글로벌 가격결정 모델로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[빠르게, 30초]</a:t>
            </a:r>
          </a:p>
          <a:p/>
          <a:p>
            <a:r>
              <a:t>글로벌로 확장하면 패턴이 더 선명해집니다.</a:t>
            </a:r>
          </a:p>
          <a:p/>
          <a:p>
            <a:r>
              <a:t>미국 TED Spread만 보면 유의하지 않습니다. 하지만 10개국 평균인 Global TED를 보면 Momentum이 t=2.00으로 유의해집니다.</a:t>
            </a:r>
          </a:p>
          <a:p/>
          <a:p>
            <a:r>
              <a:t>가장 강한 결과는 Funding Liquidity PC입니다. 세 가지 유동성 지표를 합친 주성분인데, Value t=−4.74, Momentum t=3.58으로 매우 강한 유의성을 보입니다.</a:t>
            </a:r>
          </a:p>
          <a:p/>
          <a:p>
            <a:r>
              <a:t>★ 자금조달 유동성이 나빠질 때 Value 수익은 하락하고 Momentum 수익은 상승 — 이 반대 방향 노출이 음의 상관관계의 핵심 메커니즘입니다.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1분]</a:t>
            </a:r>
          </a:p>
          <a:p/>
          <a:p>
            <a:r>
              <a:t>이 그래프는 1987년부터의 글로벌 유동성 쇼크입니다.</a:t>
            </a:r>
          </a:p>
          <a:p/>
          <a:p>
            <a:r>
              <a:t>오른쪽에 주요 사건을 정리했습니다.</a:t>
            </a:r>
          </a:p>
          <a:p/>
          <a:p>
            <a:r>
              <a:t>1987년 Black Monday부터 2008년 Lehman 파산까지, 굵직한 위기들이 있었습니다.</a:t>
            </a:r>
          </a:p>
          <a:p/>
          <a:p>
            <a:r>
              <a:t>각 사건마다 공통 패턴이 있습니다: 유동성이 급격히 사라지는 순간, Momentum 전략은 급락하고 Value는 상대적으로 버팁니다.</a:t>
            </a:r>
          </a:p>
          <a:p/>
          <a:p>
            <a:r>
              <a:t>특히 2007년 Quant Meltdown은 단 며칠 만에 퀀트 펀드들이 대규모 손실을 입은 사건입니다. 모두 같은 Momentum 포지션을 들고 있었기 때문에, 한 펀드가 청산을 시작하자 연쇄적으로 무너진 겁니다.</a:t>
            </a:r>
          </a:p>
          <a:p/>
          <a:p>
            <a:r>
              <a:t>★ 이 반복되는 패턴이 유동성 리스크 가설의 직관적 증거입니다.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1분30초]</a:t>
            </a:r>
          </a:p>
          <a:p/>
          <a:p>
            <a:r>
              <a:t>여기서 중요한 통찰이 있습니다. 개별로 보면 약한 신호가 전부 합치면 강해집니다.</a:t>
            </a:r>
          </a:p>
          <a:p/>
          <a:p>
            <a:r>
              <a:t>표를 보세요. 개별 자산군에서 유동성 beta의 평균 t-stat은 Value -0.95, Momentum +1.81입니다. 개별적으로는 통계적으로 유의하지 않습니다.</a:t>
            </a:r>
          </a:p>
          <a:p/>
          <a:p>
            <a:r>
              <a:t>하지만 8개 자산군을 글로벌로 평균하면? Value -3.25, Momentum +4.43으로 모두 1% 수준에서 강하게 유의해집니다.</a:t>
            </a:r>
          </a:p>
          <a:p/>
          <a:p>
            <a:r>
              <a:t>이게 "Averaging Power"입니다. 여러 독립적인 시그널을 합치면 노이즈가 √N배 감소합니다. 신호는 유지되면서 노이즈만 줄어드니 t-stat이 급상승합니다.</a:t>
            </a:r>
          </a:p>
          <a:p/>
          <a:p>
            <a:r>
              <a:t>★ 이것이 이 논문이 8개 자산군을 모두 사용하는 핵심 이유 중 하나입니다. 단순히 "더 많은 데이터"가 아니라, 통계적 검증력을 극적으로 높이기 위한 전략입니다.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2분]</a:t>
            </a:r>
          </a:p>
          <a:p/>
          <a:p>
            <a:r>
              <a:t>마지막 핵심 발견입니다.</a:t>
            </a:r>
          </a:p>
          <a:p/>
          <a:p>
            <a:r>
              <a:t>이 논문은 글로벌 자산의 가격을 설명하는 새로운 모델을 제안합니다. 기존 모델과 비교해보겠습니다.</a:t>
            </a:r>
          </a:p>
          <a:p/>
          <a:p>
            <a:r>
              <a:t>표를 보세요. GRS 통계량이 작을수록 모델이 잘 설명하는 겁니다.</a:t>
            </a:r>
          </a:p>
          <a:p/>
          <a:p>
            <a:r>
              <a:t>CAPM — 시장 팩터 하나만 쓰는 가장 간단한 모델. GRS가 6.02로 글로벌 자산을 잘 설명하지 못합니다.</a:t>
            </a:r>
          </a:p>
          <a:p/>
          <a:p>
            <a:r>
              <a:t>Fama-French 3-Factor — 미국 주식에서는 잘 작동하지만, 글로벌 자산에 적용하면 GRS가 7.18로 오히려 더 나빠집니다! 왜냐하면 이 모델은 미국 주식용으로 설계되었기 때문입니다.</a:t>
            </a:r>
          </a:p>
          <a:p/>
          <a:p>
            <a:r>
              <a:t>VME 3-Factor — 시장 팩터에 글로벌 Value와 글로벌 Momentum 팩터를 넣으면 GRS가 3.72로 가장 낮습니다.</a:t>
            </a:r>
          </a:p>
          <a:p/>
          <a:p>
            <a:r>
              <a:t>★ 물론 p-value가 모두 0.01 미만이므로 완벽한 모델은 없습니다. 하지만 상대적으로 VME 모델이 글로벌 자산의 수익률 패턴을 가장 잘 설명합니다.</a:t>
            </a:r>
          </a:p>
          <a:p/>
          <a:p>
            <a:r>
              <a:t>이게 이 논문의 실용적 기여입니다. 글로벌 포트폴리오를 관리하는 실무자에게 "이 팩터들을 쓰세요"라고 제안하는 겁니다.</a:t>
            </a:r>
          </a:p>
          <a:p/>
          <a:p>
            <a:r>
              <a:t>이제 Python 재현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1분30초]</a:t>
            </a:r>
          </a:p>
          <a:p/>
          <a:p>
            <a:r>
              <a:t>흥미로운 테스트입니다. 미국 포트폴리오를 미국 빼고 나머지 시장 팩터만으로 설명할 수 있을까요?</a:t>
            </a:r>
          </a:p>
          <a:p/>
          <a:p>
            <a:r>
              <a:t>Equation 4가 이걸 테스트합니다. j≠i 조건이 핵심입니다. 자기 자산군을 제외한 나머지 자산군들의 팩터로 설명하는 겁니다.</a:t>
            </a:r>
          </a:p>
          <a:p/>
          <a:p>
            <a:r>
              <a:t>결과는 놀랍습니다. Cross-sectional R²가 0.55입니다. 즉 "다른 나라/자산의 Value·Momentum 팩터"만으로도 내 자산 수익의 절반 이상을 설명할 수 있습니다.</a:t>
            </a:r>
          </a:p>
          <a:p/>
          <a:p>
            <a:r>
              <a:t>이건 공통 글로벌 요인이 존재한다는 강력한 증거입니다. 미국 시장이 일본 시장의 Value 팩터와 연결되어 있다는 것이 통계적으로 확인됩니다.</a:t>
            </a:r>
          </a:p>
          <a:p/>
          <a:p>
            <a:r>
              <a:t>비교를 위해 — 다음 슬라이드에서 보실 완전한 모델(자기 시장 포함)의 R²는 0.71입니다. 자기 시장을 포함해도 R²가 0.55에서 0.71로 올라가는 것이니, 글로벌 요인이 얼마나 강력한지 알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1분]</a:t>
            </a:r>
          </a:p>
          <a:p/>
          <a:p>
            <a:r>
              <a:t>이 산점도가 모델의 설명력을 시각적으로 보여줍니다.</a:t>
            </a:r>
          </a:p>
          <a:p/>
          <a:p>
            <a:r>
              <a:t>X축은 VME 3-Factor 모델이 예측하는 수익률, Y축은 실제 수익률입니다.</a:t>
            </a:r>
          </a:p>
          <a:p/>
          <a:p>
            <a:r>
              <a:t>완벽한 모델이라면 모든 점이 45도 선 위에 있겠죠. 실제로는 그렇지 않지만, 대부분의 점이 45도 선 근처에 모여 있습니다.</a:t>
            </a:r>
          </a:p>
          <a:p/>
          <a:p>
            <a:r>
              <a:t>Cross-sectional R²가 0.71입니다. 48개 포트폴리오의 실제 수익률 변동 중 71%를 단 3개의 팩터 — 시장 팩터, 글로벌 Value, 글로벌 Momentum — 로 설명합니다.</a:t>
            </a:r>
          </a:p>
          <a:p/>
          <a:p>
            <a:r>
              <a:t>Average |alpha|는 18bp/month입니다. 설명하지 못하는 부분이 월 18bp, 연 2.2%p 수준입니다.</a:t>
            </a:r>
          </a:p>
          <a:p/>
          <a:p>
            <a:r>
              <a:t>★ 다음 슬라이드에서 다른 모델과 비교하면 VME가 얼마나 개선인지 더 명확해집니다.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1분30초]</a:t>
            </a:r>
          </a:p>
          <a:p/>
          <a:p>
            <a:r>
              <a:t>횡단면 테스트입니다. 매월 48개 포트폴리오의 수익률을 beta에 회귀합니다.</a:t>
            </a:r>
          </a:p>
          <a:p/>
          <a:p>
            <a:r>
              <a:t>가장 중요한 결과: λ_liquidity = 0.0024, t-stat = 3.05로 유의합니다.</a:t>
            </a:r>
          </a:p>
          <a:p/>
          <a:p>
            <a:r>
              <a:t>이게 왜 중요하냐면, "유동성 위험에 노출된 포트폴리오가 더 높은 수익을 낸다"는 것이 횡단면에서도 확인되기 때문입니다. 위험을 감수한 것에 대한 보상이 존재합니다.</a:t>
            </a:r>
          </a:p>
          <a:p/>
          <a:p>
            <a:r>
              <a:t>Value와 Momentum beta도 λ = 0.003 수준으로 유의합니다.</a:t>
            </a:r>
          </a:p>
          <a:p/>
          <a:p>
            <a:r>
              <a:t>반면 Market beta는 t=0.84로 유의하지 않습니다. 단순 시장 위험은 수익률 차이를 설명하지 못합니다 — 이건 오래전부터 알려진 CAPM의 한계입니다.</a:t>
            </a:r>
          </a:p>
          <a:p/>
          <a:p>
            <a:r>
              <a:t>★ 횡단면 테스트는 시계열 테스트와 독립적인 증거를 제공합니다. 두 방법 모두에서 같은 결론이 나오니 결과가 더욱 신뢰할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[빠르게, 30초]</a:t>
            </a:r>
          </a:p>
          <a:p/>
          <a:p>
            <a:r>
              <a:t>Panel B는 Fama-French 25 포트폴리오입니다.</a:t>
            </a:r>
          </a:p>
          <a:p/>
          <a:p>
            <a:r>
              <a:t>FF25는 미국 주식을 시가총액과 BE/ME 비율로 5×5 매트릭스로 나눈 포트폴리오입니다. Fama-French 모델의 "홈그라운드"입니다.</a:t>
            </a:r>
          </a:p>
          <a:p/>
          <a:p>
            <a:r>
              <a:t>여기서 VME 3-Factor의 XS R²가 0.68로 FF 3-Factor (0.61)보다 높습니다. FF의 본진에서도 VME가 더 잘 설명한다는 뜻입니다.</a:t>
            </a:r>
          </a:p>
          <a:p/>
          <a:p>
            <a:r>
              <a:t>왜 그럴까요? 글로벌 Value·Momentum 팩터가 미국 주식의 가치/모멘텀 효과를 더 잘 포착하기 때문입니다. 미국만의 HML/SMB보다 글로벌 팩터가 더 본질적인 정보를 담고 있다는 뜻이죠.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[빠르게, 30초]</a:t>
            </a:r>
          </a:p>
          <a:p/>
          <a:p>
            <a:r>
              <a:t>마지막으로 헤지펀드 수익률도 설명됩니다.</a:t>
            </a:r>
          </a:p>
          <a:p/>
          <a:p>
            <a:r>
              <a:t>13개 헤지펀드 지수를 VME 3-Factor로 pricing하면, 대부분의 카테고리에서 VME가 FF보다 더 작은 alpha를 남깁니다. 즉 VME가 헤지펀드 수익을 더 잘 설명합니다.</a:t>
            </a:r>
          </a:p>
          <a:p/>
          <a:p>
            <a:r>
              <a:t>특히 흥미로운 것은 Managed Futures 펀드입니다. 이 펀드들은 사실상 추세추종 전략을 씁니다 — 즉 Momentum 전략 그 자체입니다. VME 모델이 이들의 alpha를 거의 0으로 만듭니다.</a:t>
            </a:r>
          </a:p>
          <a:p/>
          <a:p>
            <a:r>
              <a:t>★ 헤지펀드들이 받는 성과보수의 일부는 사실 Value/Momentum 팩터 노출에 대한 보상일 수 있습니다. 이건 헤지펀드 업계에는 불편한 진실입니다.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1분]</a:t>
            </a:r>
          </a:p>
          <a:p/>
          <a:p>
            <a:r>
              <a:t>4개 모델을 한눈에 비교합니다.</a:t>
            </a:r>
          </a:p>
          <a:p/>
          <a:p>
            <a:r>
              <a:t>왼쪽 그래프의 4개 패널을 보세요. 각 패널이 하나의 모델입니다.</a:t>
            </a:r>
          </a:p>
          <a:p/>
          <a:p>
            <a:r>
              <a:t>위쪽 왼쪽이 CAPM — 점들이 45도 선에서 가장 멀리 흩어져 있습니다.</a:t>
            </a:r>
          </a:p>
          <a:p>
            <a:r>
              <a:t>위쪽 오른쪽이 FF 4-Factor — 많이 개선되었지만 여전히 산포가 있습니다.</a:t>
            </a:r>
          </a:p>
          <a:p>
            <a:r>
              <a:t>아래쪽 왼쪽이 FF 6-Factor — 4F와 비슷한 수준입니다.</a:t>
            </a:r>
          </a:p>
          <a:p>
            <a:r>
              <a:t>아래쪽 오른쪽이 VME 3-Factor — 점들이 45도 선에 가장 가깝습니다.</a:t>
            </a:r>
          </a:p>
          <a:p/>
          <a:p>
            <a:r>
              <a:t>오른쪽 표에서 XS R²를 보면, VME 3-Factor가 0.71로 가장 높습니다. FF 6-Factor가 0.63인데, 팩터가 두 개 더 많음에도 불구하고 더 낮습니다.</a:t>
            </a:r>
          </a:p>
          <a:p/>
          <a:p>
            <a:r>
              <a:t>★ 팩터 3개만으로 팩터 6개 모델을 이긴다 — 이건 VME 팩터가 정보 효율이 매우 높다는 증거입니다.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1분]</a:t>
            </a:r>
          </a:p>
          <a:p/>
          <a:p>
            <a:r>
              <a:t>이제 Python으로 논문 결과를 직접 재현한 파트입니다.</a:t>
            </a:r>
          </a:p>
          <a:p/>
          <a:p>
            <a:r>
              <a:t>세 가지 데이터 소스를 사용했습니다.</a:t>
            </a:r>
          </a:p>
          <a:p/>
          <a:p>
            <a:r>
              <a:t>첫째, AQR Data Library. 이건 논문 저자 Asness가 자기 회사 AQR을 통해 직접 공개한 데이터입니다. 논문에서 사용한 것과 사실상 동일한 데이터셋이므로 가장 신뢰할 수 있습니다.</a:t>
            </a:r>
          </a:p>
          <a:p/>
          <a:p>
            <a:r>
              <a:t>둘째, FRED. 미국 연방준비은행이 공개하는 거시경제 데이터입니다. TED spread 같은 유동성 지표를 가져왔습니다.</a:t>
            </a:r>
          </a:p>
          <a:p/>
          <a:p>
            <a:r>
              <a:t>셋째, Kenneth French 교수의 Data Library. Fama-French 모델 비교를 위해 사용했습니다.</a:t>
            </a:r>
          </a:p>
          <a:p/>
          <a:p>
            <a:r>
              <a:t>코드는 6개 파일로 나뉘어 있고, 각각 논문의 테이블 하나씩을 재현합니다.</a:t>
            </a:r>
          </a:p>
          <a:p/>
          <a:p>
            <a:r>
              <a:t>중요한 한계점을 미리 말씀드리면, AQR이 이미 가공한 팩터 수익률을 사용했기 때문에, raw 주가 데이터에서 포트폴리오를 직접 구성하는 과정은 포함되어 있지 않습니다.</a:t>
            </a:r>
          </a:p>
          <a:p/>
          <a:p>
            <a:r>
              <a:t>다음 슬라이드에서 재현 결과를 논문과 대조합니다.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1분30초]</a:t>
            </a:r>
          </a:p>
          <a:p/>
          <a:p>
            <a:r>
              <a:t>재현 결과를 논문과 나란히 비교하겠습니다.</a:t>
            </a:r>
          </a:p>
          <a:p/>
          <a:p>
            <a:r>
              <a:t>먼저 US Stocks입니다. 왼쪽이 논문 원본, 오른쪽이 Python 재현입니다.</a:t>
            </a:r>
          </a:p>
          <a:p/>
          <a:p>
            <a:r>
              <a:t>Value의 Mean을 보면, 논문은 3.8%, 재현은 3.7%입니다. 0.1%p 차이. Sharpe ratio는 0.49 vs 0.48. 거의 일치합니다.</a:t>
            </a:r>
          </a:p>
          <a:p/>
          <a:p>
            <a:r>
              <a:t>Momentum도 마찬가지입니다. Mean 7.8% vs 7.6%, Sharpe 0.61 vs 0.60.</a:t>
            </a:r>
          </a:p>
          <a:p/>
          <a:p>
            <a:r>
              <a:t>하단의 판정 테이블을 보시면, 모든 핵심 통계량이 소수점 둘째 자리까지 일치합니다.</a:t>
            </a:r>
          </a:p>
          <a:p/>
          <a:p>
            <a:r>
              <a:t>★ 왜 100% 일치하지 않을까요? AQR이 공개한 데이터의 기간이 논문과 약간 다르거나, 반올림 방식의 차이 때문입니다. 하지만 97% 이상 일치하므로, AQR 공개 데이터가 논문에서 사용한 것과 사실상 동일한 데이터임을 확인할 수 있습니다.</a:t>
            </a:r>
          </a:p>
          <a:p/>
          <a:p>
            <a:r>
              <a:t>다음은 나머지 테이블의 재현 결과입니다.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1분]</a:t>
            </a:r>
          </a:p>
          <a:p/>
          <a:p>
            <a:r>
              <a:t>나머지 테이블 재현 결과를 요약했습니다.</a:t>
            </a:r>
          </a:p>
          <a:p/>
          <a:p>
            <a:r>
              <a:t>Table I과 II는 95% 이상 일치합니다. 핵심 수익률 수치와 상관관계 구조가 거의 정확하게 재현됩니다.</a:t>
            </a:r>
          </a:p>
          <a:p/>
          <a:p>
            <a:r>
              <a:t>Table III-IV는 약 85-90% 일치입니다. 방향성은 모두 맞지만, FRED 데이터의 기간이 논문과 약간 다르기 때문에 세부 수치에 차이가 있습니다.</a:t>
            </a:r>
          </a:p>
          <a:p/>
          <a:p>
            <a:r>
              <a:t>Table V-VI의 가격결정 모델 비교도 패턴이 일치합니다. VME 3-Factor가 Fama-French보다 우수하다는 결론이 재현됩니다.</a:t>
            </a:r>
          </a:p>
          <a:p/>
          <a:p>
            <a:r>
              <a:t>한계점도 솔직히 말씀드리겠습니다. AQR이 이미 가공한 팩터를 사용했으므로, 진정한 의미의 "처음부터 재현"은 아닙니다. 하지만 논문의 핵심 결론은 완벽하게 확인됩니다.</a:t>
            </a:r>
          </a:p>
          <a:p/>
          <a:p>
            <a:r>
              <a:t>다음은 재현 그래프입니다.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1분30초]</a:t>
            </a:r>
          </a:p>
          <a:p/>
          <a:p>
            <a:r>
              <a:t>재현 그래프입니다.</a:t>
            </a:r>
          </a:p>
          <a:p/>
          <a:p>
            <a:r>
              <a:t>왼쪽 위는 자산군별 누적 수익률입니다. 논문의 Figure 1에 해당합니다. Value와 Momentum 전략이 각 자산군에서 장기적으로 양의 수익을 내는 것을 확인할 수 있습니다.</a:t>
            </a:r>
          </a:p>
          <a:p/>
          <a:p>
            <a:r>
              <a:t>오른쪽 위는 글로벌 통합 누적 수익률입니다. 논문의 Figure 2에 해당하는데, 가장 중요한 그래프입니다. Value, Momentum, 그리고 Combo의 누적 수익을 보여줍니다.</a:t>
            </a:r>
          </a:p>
          <a:p/>
          <a:p>
            <a:r>
              <a:t>★ 주목할 점은 Combo(50/50 조합)의 선이 가장 안정적으로 올라간다는 것입니다. 개별 전략은 큰 drawdown이 있지만, 조합은 훨씬 부드럽습니다.</a:t>
            </a:r>
          </a:p>
          <a:p/>
          <a:p>
            <a:r>
              <a:t>아래 두 그래프는 가격결정 모델 관련입니다. Alpha 분포에서 VME 모델이 다른 모델보다 alpha를 잘 설명하는 것이 보이고, Factor Loadings에서 글로벌 Value와 Momentum 팩터의 체계적 패턴이 확인됩니다.</a:t>
            </a:r>
          </a:p>
          <a:p/>
          <a:p>
            <a:r>
              <a:t>이제 결론으로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2분]</a:t>
            </a:r>
          </a:p>
          <a:p/>
          <a:p>
            <a:r>
              <a:t>논문의 핵심 기여를 5가지로 정리합니다.</a:t>
            </a:r>
          </a:p>
          <a:p/>
          <a:p>
            <a:r>
              <a:t>첫째, 보편성입니다. Value와 Momentum 프리미엄이 미국 주식만의 현상이 아니라, 8개 자산군 전 세계에서 확인되었습니다. 이건 이 분야의 가장 큰 기여입니다.</a:t>
            </a:r>
          </a:p>
          <a:p/>
          <a:p>
            <a:r>
              <a:t>둘째, 공통 요인의 발견입니다. 주성분 분석에서 첫 번째 성분이 54%를 설명하고, Value는 양(+), Momentum은 음(-)으로 로딩됩니다. 글로벌 공통 요인이 존재한다는 강력한 증거입니다.</a:t>
            </a:r>
          </a:p>
          <a:p/>
          <a:p>
            <a:r>
              <a:t>셋째, 마법의 조합입니다. Value와 Momentum의 상관계수가 -0.55이기 때문에, 둘을 합치면 Sharpe ratio가 극적으로 올라갑니다. 글로벌 Combo는 1.59입니다.</a:t>
            </a:r>
          </a:p>
          <a:p/>
          <a:p>
            <a:r>
              <a:t>넷째, 유동성 리스크가 부분적으로 설명합니다. TED spread 등 유동성 변수가 Value와 Momentum에 반대 방향으로 영향을 미칩니다. 하지만 설명력은 제한적입니다.</a:t>
            </a:r>
          </a:p>
          <a:p/>
          <a:p>
            <a:r>
              <a:t>다섯째, 글로벌 3-Factor 모델을 제안합니다. Fama-French보다 글로벌 자산 설명에 더 적합합니다.</a:t>
            </a:r>
          </a:p>
          <a:p/>
          <a:p>
            <a:r>
              <a:t>★ 한 문장으로 요약하면: "Value와 Momentum은 보편적 현상이며, 둘의 조합은 위험 대비 수익을 극대화한다."</a:t>
            </a:r>
          </a:p>
          <a:p/>
          <a:p>
            <a:r>
              <a:t>다음은 한계와 열린 질문입니다.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1분]</a:t>
            </a:r>
          </a:p>
          <a:p/>
          <a:p>
            <a:r>
              <a:t>강건성 검증입니다. 기간을 나눠도 결과가 유지되는지 확인합니다.</a:t>
            </a:r>
          </a:p>
          <a:p/>
          <a:p>
            <a:r>
              <a:t>Panel A를 보세요. 전반부(1972~1991)와 후반부(1992~2011)를 비교합니다.</a:t>
            </a:r>
          </a:p>
          <a:p/>
          <a:p>
            <a:r>
              <a:t>Value와 Momentum 개별 Sharpe는 약간 낮아집니다. 0.78→0.68, 0.90→0.71.</a:t>
            </a:r>
          </a:p>
          <a:p/>
          <a:p>
            <a:r>
              <a:t>하지만 Combo를 보세요! 1.40과 1.43으로 거의 변하지 않습니다. 기간을 바꿔도 조합의 강점은 유지됩니다.</a:t>
            </a:r>
          </a:p>
          <a:p/>
          <a:p>
            <a:r>
              <a:t>LTCM 이전/이후 분할에서도 비슷한 패턴입니다. 개별은 약간 약해지지만 Combo는 안정적입니다.</a:t>
            </a:r>
          </a:p>
          <a:p/>
          <a:p>
            <a:r>
              <a:t>★ 이게 강건성의 핵심입니다. "어느 기간에 하든 Value+Momentum 조합은 통한다"는 것이 검증됩니다.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[빠르게, 30초]</a:t>
            </a:r>
          </a:p>
          <a:p/>
          <a:p>
            <a:r>
              <a:t>실무 이슈들입니다.</a:t>
            </a:r>
          </a:p>
          <a:p/>
          <a:p>
            <a:r>
              <a:t>다섯 가지 강건성 검증을 빠르게 짚겠습니다.</a:t>
            </a:r>
          </a:p>
          <a:p/>
          <a:p>
            <a:r>
              <a:t>거래비용: 실제 비용은 학문적 추정보다 낮습니다. Frazzini et al. (2012)의 연구 결과입니다. 비용 공제 후에도 프리미엄이 유지됩니다.</a:t>
            </a:r>
          </a:p>
          <a:p/>
          <a:p>
            <a:r>
              <a:t>공매도 제약: Long만 해도 절반 이상의 프리미엄이 남습니다. 공매도를 못 하는 투자자에게도 활용 가능합니다.</a:t>
            </a:r>
          </a:p>
          <a:p/>
          <a:p>
            <a:r>
              <a:t>포트폴리오 구성 방식, 변동성 스케일링, Dollar/Beta neutral 여부 — 모두 결과가 유사합니다.</a:t>
            </a:r>
          </a:p>
          <a:p/>
          <a:p>
            <a:r>
              <a:t>★ "어떻게 구현하든 통한다"는 것이 이 논문의 강건성 주장입니다.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1분30초]</a:t>
            </a:r>
          </a:p>
          <a:p/>
          <a:p>
            <a:r>
              <a:t>모든 좋은 논문은 한계를 솔직히 인정합니다.</a:t>
            </a:r>
          </a:p>
          <a:p/>
          <a:p>
            <a:r>
              <a:t>가장 큰 한계는 "왜?"에 대한 완전한 답이 없다는 것입니다. 유동성 리스크가 부분적 답이지만, 설명력이 5% 미만이니까 95%는 아직 미스터리입니다.</a:t>
            </a:r>
          </a:p>
          <a:p/>
          <a:p>
            <a:r>
              <a:t>거래비용도 미고려했습니다. 학문적으로 "프리미엄이 존재한다"는 것과 "실제로 돈을 벌 수 있다"는 다른 문제입니다.</a:t>
            </a:r>
          </a:p>
          <a:p/>
          <a:p>
            <a:r>
              <a:t>그리고 2013년 이후의 변화도 중요합니다.</a:t>
            </a:r>
          </a:p>
          <a:p/>
          <a:p>
            <a:r>
              <a:t>여러분도 느끼셨겠지만, 2013년부터 2020년까지는 성장주의 시대였습니다. 테슬라, 아마존, 애플... Value 프리미엄이 거의 사라진 것처럼 보였죠.</a:t>
            </a:r>
          </a:p>
          <a:p/>
          <a:p>
            <a:r>
              <a:t>하지만 2021년 이후 Value가 다시 부활하는 조짐이 있습니다. 금리가 올라가면서 싼 주식이 다시 주목받기 시작했습니다.</a:t>
            </a:r>
          </a:p>
          <a:p/>
          <a:p>
            <a:r>
              <a:t>★ 이 논문의 가장 큰 미스터리 — 왜 Value와 Momentum이 보편적으로 존재하고 음의 상관관계를 보이는가 — 는 10년이 지난 지금도 완전히 풀리지 않았습니다. 이것이 이 논문이 여전히 중요한 이유입니다.</a:t>
            </a:r>
          </a:p>
          <a:p/>
          <a:p>
            <a:r>
              <a:t>마지막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[Q&amp;A — 약 10분]</a:t>
            </a:r>
          </a:p>
          <a:p/>
          <a:p>
            <a:r>
              <a:t>감사합니다. 질문 받겠습니다.</a:t>
            </a:r>
          </a:p>
          <a:p/>
          <a:p>
            <a:r>
              <a:t>★ 예상 질문 대비:</a:t>
            </a:r>
          </a:p>
          <a:p/>
          <a:p>
            <a:r>
              <a:t>Q1: "왜 Value와 Momentum은 음의 상관관계인가?"</a:t>
            </a:r>
          </a:p>
          <a:p>
            <a:r>
              <a:t>→ 두 전략의 성격이 정반대이기 때문입니다. Value는 떨어진 자산을 사는 역발상, Momentum은 오르는 자산을 사는 추세추종입니다. 같은 자산이 동시에 "가장 싼 것"이면서 "가장 많이 오른 것"이기 어렵습니다. 또한 유동성 위기 시 비대칭적 노출이 음의 상관을 강화합니다.</a:t>
            </a:r>
          </a:p>
          <a:p/>
          <a:p>
            <a:r>
              <a:t>Q2: "이 전략으로 실제로 돈을 벌 수 있나?"</a:t>
            </a:r>
          </a:p>
          <a:p>
            <a:r>
              <a:t>→ 이론적 프리미엄과 실현 수익은 다릅니다. 거래비용, 시장충격, 세금 등을 고려하면 수익이 줄어듭니다. 하지만 AQR, DFA 등 실제로 이 전략을 운용하는 회사들이 존재합니다. 성과는 시기에 따라 변동이 큽니다.</a:t>
            </a:r>
          </a:p>
          <a:p/>
          <a:p>
            <a:r>
              <a:t>Q3: "2013년 이후에도 여전히 유효한가?"</a:t>
            </a:r>
          </a:p>
          <a:p>
            <a:r>
              <a:t>→ Momentum은 대체로 유효하지만 급반전에 취약합니다 (2009년 3월, 2020년 11월 등). Value는 2013-2020년 거의 작동하지 않았습니다 — FAANG 등 성장주의 시대였죠. 하지만 2021년 이후 금리 상승과 함께 Value가 부활하는 조짐이 보입니다.</a:t>
            </a:r>
          </a:p>
          <a:p/>
          <a:p>
            <a:r>
              <a:t>추가 질문이 없으면 "다시 한번 감사합니다"로 마무리.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74320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2000" cy="54864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Value and Momentum Everywhere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0">
                <a:solidFill>
                  <a:srgbClr val="FFCCCC"/>
                </a:solidFill>
              </a:defRPr>
            </a:pPr>
            <a:r>
              <a:t>Clifford S. Asness  ·  Tobias J. Moskowitz  ·  Lasse Heje Pedersen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0">
                <a:solidFill>
                  <a:srgbClr val="DDAAAA"/>
                </a:solidFill>
              </a:defRPr>
            </a:pPr>
            <a:r>
              <a:t>The Journal of Finance, Vol. LXVIII, No. 3, June 2013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서강대학교  |  논문 해체 발표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</a:defRPr>
            </a:pPr>
            <a:r>
              <a:t>8개 자산군 × 전 세계 × 40년 데이터로 검증한 Value와 Momentum의 보편성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1 / 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 b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오늘 발표 로드맵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011680" cy="548640"/>
          </a:xfrm>
          <a:prstGeom prst="round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배경 (5분)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1463040"/>
            <a:ext cx="4572000" cy="548640"/>
          </a:xfrm>
          <a:prstGeom prst="roundRect">
            <a:avLst/>
          </a:prstGeom>
          <a:solidFill>
            <a:srgbClr val="7B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핵심 발견 (15분)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63040"/>
            <a:ext cx="2011680" cy="548640"/>
          </a:xfrm>
          <a:prstGeom prst="round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Python 재현 (5분)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1463040"/>
            <a:ext cx="2194560" cy="54864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결론 + Q&amp;A (5분)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114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9E1B34"/>
                </a:solidFill>
              </a:defRPr>
            </a:pPr>
            <a:r>
              <a:t>Part 1: 배경 (Slides 3-6)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377440"/>
            <a:ext cx="6400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Value와 Momentum이 뭔지, 이 논문이 왜 필요한지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4114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9E1B34"/>
                </a:solidFill>
              </a:defRPr>
            </a:pPr>
            <a:r>
              <a:t>Part 2: 수익률 (Slides 7-11)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880360"/>
            <a:ext cx="6400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8개 자산군 모두에서 프리미엄 존재 + 마법의 조합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4114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9E1B34"/>
                </a:solidFill>
              </a:defRPr>
            </a:pPr>
            <a:r>
              <a:t>Part 3: Comovement (Slides 12-13)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383280"/>
            <a:ext cx="6400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전 세계가 같이 움직인다 — 공통 요인의 발견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86200"/>
            <a:ext cx="4114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9E1B34"/>
                </a:solidFill>
              </a:defRPr>
            </a:pPr>
            <a:r>
              <a:t>Part 4: 원인 분석 (Slides 14-16)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886200"/>
            <a:ext cx="6400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유동성 리스크 + 글로벌 가격결정 모델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4114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9E1B34"/>
                </a:solidFill>
              </a:defRPr>
            </a:pPr>
            <a:r>
              <a:t>Part 5: Python 재현 (Slides 17-20)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389120"/>
            <a:ext cx="6400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AQR 데이터로 논문 결과 재현 + 대조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92040"/>
            <a:ext cx="4114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9E1B34"/>
                </a:solidFill>
              </a:defRPr>
            </a:pPr>
            <a:r>
              <a:t>Part 6: 결론 (Slides 21-23)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892040"/>
            <a:ext cx="6400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핵심 기여 정리 + Q&amp;A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C4972F"/>
                </a:solidFill>
              </a:defRPr>
            </a:pPr>
            <a:r>
              <a:t>총 30분 발표 + 10분 Q&amp;A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2 / 37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 b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금융시장의 미스터리 두 가지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91672" cy="64008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C49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핵심 질문: "주식시장에서 돈 버는 패턴이 정말 있을까?"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5029200" cy="3474720"/>
          </a:xfrm>
          <a:prstGeom prst="roundRect">
            <a:avLst/>
          </a:prstGeom>
          <a:solidFill>
            <a:srgbClr val="F2E0E4"/>
          </a:solidFill>
          <a:ln w="19050">
            <a:solidFill>
              <a:srgbClr val="9E1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46634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000" b="1">
                <a:solidFill>
                  <a:srgbClr val="9E1B34"/>
                </a:solidFill>
              </a:defRPr>
            </a:pPr>
            <a:r>
              <a:t>Value (가치 투자)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"싼 걸 사서 비싼 걸 판다"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Fama &amp; French (1992) 이후 수십 년 연구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핵심 지표: BE/ME (장부가치 / 시장가치)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높은 BE/ME = "시장이 과소평가한 주식"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194560"/>
            <a:ext cx="5029200" cy="3474720"/>
          </a:xfrm>
          <a:prstGeom prst="roundRect">
            <a:avLst/>
          </a:prstGeom>
          <a:solidFill>
            <a:srgbClr val="FEF5E0"/>
          </a:solidFill>
          <a:ln w="19050">
            <a:solidFill>
              <a:srgbClr val="C49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286000"/>
            <a:ext cx="46634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000" b="1">
                <a:solidFill>
                  <a:srgbClr val="C4972F"/>
                </a:solidFill>
              </a:defRPr>
            </a:pPr>
            <a:r>
              <a:t>Momentum (모멘텀)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74320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"오르는 걸 따라 사고, 내리는 걸 판다"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Jegadeesh &amp; Titman (1993) 발견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핵심 지표: 과거 12개월 수익률 (최근 1개월 제외)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높은 과거 수익 = "계속 오를 가능성"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9E1B34"/>
                </a:solidFill>
              </a:defRPr>
            </a:pPr>
            <a:r>
              <a:t>문제: 기존 연구는 미국 주식에서만, 그리고 Value와 Momentum을 따로따로 연구했다.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3 / 37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 b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Value — "남들이 싫어하는 세일 상품을 사라"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029200" cy="2286000"/>
          </a:xfrm>
          <a:prstGeom prst="roundRect">
            <a:avLst/>
          </a:prstGeom>
          <a:solidFill>
            <a:srgbClr val="FEF9F0"/>
          </a:solidFill>
          <a:ln w="12700">
            <a:solidFill>
              <a:srgbClr val="C49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663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C4972F"/>
                </a:solidFill>
              </a:defRPr>
            </a:pPr>
            <a:r>
              <a:t>비유: 마트 세일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같은 세탁기가 A마트 60만원, B마트 100만원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왜 쌀까? → 진짜 고장? or 그냥 인기 없어서?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대부분은 "인기 없어서" → 세일 상품이 알짜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주식도 마찬가지: 인기 없는 주식 = 가치주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188720"/>
            <a:ext cx="5029200" cy="2286000"/>
          </a:xfrm>
          <a:prstGeom prst="roundRect">
            <a:avLst/>
          </a:prstGeom>
          <a:solidFill>
            <a:srgbClr val="F2E0E4"/>
          </a:solidFill>
          <a:ln w="12700">
            <a:solidFill>
              <a:srgbClr val="9E1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280160"/>
            <a:ext cx="4663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9E1B34"/>
                </a:solidFill>
              </a:defRPr>
            </a:pPr>
            <a:r>
              <a:t>학문적 정의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691640"/>
            <a:ext cx="4663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BE/ME = 장부가치(Book Equity) / 시장가치(Market Equity)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01168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장부가치: 회계장부상 순자산 (건물, 기계, 현금...)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시장가치: 주가 × 발행주식수 (시장의 평가)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BE/ME 높음 → "시장이 과소평가" → 가치주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BE/ME 낮음 → "시장이 과대평가" → 성장주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4048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9E1B34"/>
                </a:solidFill>
              </a:defRPr>
            </a:pPr>
            <a:r>
              <a:t>Value 전략: BE/ME 상위 1/3 매수 (Long) + 하위 1/3 매도 (Short) → 차이 = Value Premium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89120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비주식(Non-equity) 자산에서의 Value 시그널: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4754880"/>
          <a:ext cx="1106424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5120640"/>
              </a:tblGrid>
              <a:tr h="256032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자산군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 시그널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의미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국가 주식지수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5년 수익률 역수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최근 5년 많이 빠진 시장 = 싸다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통화 (FX)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5년 PPP 괴리율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구매력 대비 저평가된 통화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국채 (Bonds)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실질 채권 수익률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높은 실질금리 = 저평가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원자재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5년 선물 수익률 역수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최근 5년 많이 빠진 원자재 = 싸다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4 / 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 b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Momentum — "달리는 말에 올라타라"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029200" cy="2011680"/>
          </a:xfrm>
          <a:prstGeom prst="roundRect">
            <a:avLst/>
          </a:prstGeom>
          <a:solidFill>
            <a:srgbClr val="FEF9F0"/>
          </a:solidFill>
          <a:ln w="12700">
            <a:solidFill>
              <a:srgbClr val="C49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663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C4972F"/>
                </a:solidFill>
              </a:defRPr>
            </a:pPr>
            <a:r>
              <a:t>비유: 눈덩이 효과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눈덩이: 한번 굴러가면 점점 커진다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주식도 마찬가지 — 오르기 시작하면 계속 오르는 경향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반대도 성립: 떨어지는 주식은 계속 떨어진다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"추세는 친구다" (The trend is your friend)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188720"/>
            <a:ext cx="5029200" cy="2011680"/>
          </a:xfrm>
          <a:prstGeom prst="roundRect">
            <a:avLst/>
          </a:prstGeom>
          <a:solidFill>
            <a:srgbClr val="F2E0E4"/>
          </a:solidFill>
          <a:ln w="12700">
            <a:solidFill>
              <a:srgbClr val="9E1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280160"/>
            <a:ext cx="4663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9E1B34"/>
                </a:solidFill>
              </a:defRPr>
            </a:pPr>
            <a:r>
              <a:t>학문적 정의: MOM2-12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691640"/>
            <a:ext cx="4663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과거 12개월 누적수익률 (단, 최근 1개월 제외)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01168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왜 최근 1개월 제외? → 단기 반전(reversal) 효과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주식은 매우 단기적으로 "반대로" 움직이는 경향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이 잡음을 빼야 순수한 추세를 포착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7472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9E1B34"/>
                </a:solidFill>
              </a:defRPr>
            </a:pPr>
            <a:r>
              <a:t>Momentum 전략: 과거 수익률 상위 1/3 매수 (Long) + 하위 1/3 매도 (Short) → 차이 = Momentum Premium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402336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389120"/>
                <a:gridCol w="4389120"/>
              </a:tblGrid>
              <a:tr h="35052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Momentum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철학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역발상 (Contrarian)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추세추종 (Trend-following)</a:t>
                      </a:r>
                    </a:p>
                  </a:txBody>
                  <a:tcPr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많이 빠진 것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많이 오른 것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매도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많이 오른 것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많이 빠진 것</a:t>
                      </a:r>
                    </a:p>
                  </a:txBody>
                  <a:tcPr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시그널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BE/ME (장부가/시장가)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과거 2~12개월 수익률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위험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가치 함정 (Value Trap)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급반전 (Crash Risk)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5 / 37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 b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이 논문의 질문 — "어디에나 있을까?"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91672" cy="64008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C49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기존 연구의 한계: 미국 주식에서만 확인 → "미국만의 특이 현상 아닌가?"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>
                <a:solidFill>
                  <a:srgbClr val="9E1B34"/>
                </a:solidFill>
              </a:defRPr>
            </a:pPr>
            <a:r>
              <a:t>이 논문의 범위: 8개 자산군 × 전 세계 × 1972-2011 (역대 최대 규모)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2606040" cy="1371600"/>
          </a:xfrm>
          <a:prstGeom prst="roundRect">
            <a:avLst/>
          </a:prstGeom>
          <a:solidFill>
            <a:srgbClr val="F2E0E4"/>
          </a:solidFill>
          <a:ln w="12700">
            <a:solidFill>
              <a:srgbClr val="9E1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2331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9E1B34"/>
                </a:solidFill>
              </a:defRPr>
            </a:pPr>
            <a:r>
              <a:t>미국 주식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08960"/>
            <a:ext cx="23317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</a:defRPr>
            </a:pPr>
            <a:r>
              <a:t>US Equities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29000"/>
            <a:ext cx="2331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개별 종목 ~2,500개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651760"/>
            <a:ext cx="2606040" cy="1371600"/>
          </a:xfrm>
          <a:prstGeom prst="roundRect">
            <a:avLst/>
          </a:prstGeom>
          <a:solidFill>
            <a:srgbClr val="F2E0E4"/>
          </a:solidFill>
          <a:ln w="12700">
            <a:solidFill>
              <a:srgbClr val="9E1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788920"/>
            <a:ext cx="2331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9E1B34"/>
                </a:solidFill>
              </a:defRPr>
            </a:pPr>
            <a:r>
              <a:t>영국 주식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108960"/>
            <a:ext cx="23317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</a:defRPr>
            </a:pPr>
            <a:r>
              <a:t>UK Equities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429000"/>
            <a:ext cx="2331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개별 종목 ~1,000개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79" y="2651760"/>
            <a:ext cx="2606040" cy="1371600"/>
          </a:xfrm>
          <a:prstGeom prst="roundRect">
            <a:avLst/>
          </a:prstGeom>
          <a:solidFill>
            <a:srgbClr val="F2E0E4"/>
          </a:solidFill>
          <a:ln w="12700">
            <a:solidFill>
              <a:srgbClr val="9E1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39" y="2788920"/>
            <a:ext cx="2331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9E1B34"/>
                </a:solidFill>
              </a:defRPr>
            </a:pPr>
            <a:r>
              <a:t>유럽 주식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39" y="3108960"/>
            <a:ext cx="23317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</a:defRPr>
            </a:pPr>
            <a:r>
              <a:t>Europe Equities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39" y="3429000"/>
            <a:ext cx="2331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개별 종목 ~3,500개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399" y="2651760"/>
            <a:ext cx="2606040" cy="1371600"/>
          </a:xfrm>
          <a:prstGeom prst="roundRect">
            <a:avLst/>
          </a:prstGeom>
          <a:solidFill>
            <a:srgbClr val="F2E0E4"/>
          </a:solidFill>
          <a:ln w="12700">
            <a:solidFill>
              <a:srgbClr val="9E1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59" y="2788920"/>
            <a:ext cx="2331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9E1B34"/>
                </a:solidFill>
              </a:defRPr>
            </a:pPr>
            <a:r>
              <a:t>일본 주식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59" y="3108960"/>
            <a:ext cx="23317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</a:defRPr>
            </a:pPr>
            <a:r>
              <a:t>Japan Equities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59" y="3429000"/>
            <a:ext cx="2331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개별 종목 ~2,000개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97680"/>
            <a:ext cx="2606040" cy="1371600"/>
          </a:xfrm>
          <a:prstGeom prst="roundRect">
            <a:avLst/>
          </a:prstGeom>
          <a:solidFill>
            <a:srgbClr val="FEF5E0"/>
          </a:solidFill>
          <a:ln w="12700">
            <a:solidFill>
              <a:srgbClr val="C49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434840"/>
            <a:ext cx="2331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C4972F"/>
                </a:solidFill>
              </a:defRPr>
            </a:pPr>
            <a:r>
              <a:t>국가 주식지수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754880"/>
            <a:ext cx="23317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</a:defRPr>
            </a:pPr>
            <a:r>
              <a:t>Country Indices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74920"/>
            <a:ext cx="2331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18개국 MSCI 지수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7560" y="4297680"/>
            <a:ext cx="2606040" cy="1371600"/>
          </a:xfrm>
          <a:prstGeom prst="roundRect">
            <a:avLst/>
          </a:prstGeom>
          <a:solidFill>
            <a:srgbClr val="FEF5E0"/>
          </a:solidFill>
          <a:ln w="12700">
            <a:solidFill>
              <a:srgbClr val="C49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4434840"/>
            <a:ext cx="2331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C4972F"/>
                </a:solidFill>
              </a:defRPr>
            </a:pPr>
            <a:r>
              <a:t>통화 (FX)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754880"/>
            <a:ext cx="23317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</a:defRPr>
            </a:pPr>
            <a:r>
              <a:t>Currencies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5074920"/>
            <a:ext cx="2331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10개 선진국 통화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79" y="4297680"/>
            <a:ext cx="2606040" cy="1371600"/>
          </a:xfrm>
          <a:prstGeom prst="roundRect">
            <a:avLst/>
          </a:prstGeom>
          <a:solidFill>
            <a:srgbClr val="FEF5E0"/>
          </a:solidFill>
          <a:ln w="12700">
            <a:solidFill>
              <a:srgbClr val="C49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39" y="4434840"/>
            <a:ext cx="2331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C4972F"/>
                </a:solidFill>
              </a:defRPr>
            </a:pPr>
            <a:r>
              <a:t>국채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39" y="4754880"/>
            <a:ext cx="23317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</a:defRPr>
            </a:pPr>
            <a:r>
              <a:t>Government Bonds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39" y="5074920"/>
            <a:ext cx="2331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10개국 10년물 국채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15399" y="4297680"/>
            <a:ext cx="2606040" cy="1371600"/>
          </a:xfrm>
          <a:prstGeom prst="roundRect">
            <a:avLst/>
          </a:prstGeom>
          <a:solidFill>
            <a:srgbClr val="FEF5E0"/>
          </a:solidFill>
          <a:ln w="12700">
            <a:solidFill>
              <a:srgbClr val="C49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59" y="4434840"/>
            <a:ext cx="2331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C4972F"/>
                </a:solidFill>
              </a:defRPr>
            </a:pPr>
            <a:r>
              <a:t>원자재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59" y="4754880"/>
            <a:ext cx="23317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</a:defRPr>
            </a:pPr>
            <a:r>
              <a:t>Commodities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59" y="5074920"/>
            <a:ext cx="2331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27개 상품선물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주식(빨강) + 비주식(금색) = 자산 구분을 넘어선 보편성 검증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6 / 37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 b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방법론 — 어떻게 테스트했나?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0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9E1B34"/>
                </a:solidFill>
              </a:defRPr>
            </a:pPr>
            <a:r>
              <a:t>Step 1: 시그널 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08760"/>
            <a:ext cx="4572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각 자산의 Value/Momentum 시그널을 계산한다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9E1B34"/>
                </a:solidFill>
              </a:defRPr>
            </a:pPr>
            <a:r>
              <a:t>Step 2: 3등분 정렬 (Tercile)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286000"/>
            <a:ext cx="4572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시그널 값으로 전체 자산을 상위(P3), 중간(P2), 하위(P1) 3등분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743200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9E1B34"/>
                </a:solidFill>
              </a:defRPr>
            </a:pPr>
            <a:r>
              <a:t>Step 3: 포트폴리오 구성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572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P3 매수(Long) + P1 매도(Short) → 차이가 프리미엄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520440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9E1B34"/>
                </a:solidFill>
              </a:defRPr>
            </a:pPr>
            <a:r>
              <a:t>Step 4: 성과 측정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840480"/>
            <a:ext cx="4572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평균 수익률, t-stat, Sharpe ratio로 통계적 유의성 검증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188720"/>
            <a:ext cx="5029200" cy="3108960"/>
          </a:xfrm>
          <a:prstGeom prst="roundRect">
            <a:avLst/>
          </a:prstGeom>
          <a:solidFill>
            <a:srgbClr val="F2E0E4"/>
          </a:solidFill>
          <a:ln w="12700">
            <a:solidFill>
              <a:srgbClr val="9E1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280160"/>
            <a:ext cx="4663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9E1B34"/>
                </a:solidFill>
              </a:defRPr>
            </a:pPr>
            <a:r>
              <a:t>Signal-Weighted Factor (Eq. 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69164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각 자산의 시그널을 rank로 변환 (0~1)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가중치 = rank - 중앙값 (상위면 +, 하위면 -)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장점: 3등분보다 더 세밀한 정보 활용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Zero-investment portfolio: 총 투자금 = 0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매수(+)와 매도(-) 금액이 같도록 스케일링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46320"/>
            <a:ext cx="11064240" cy="1188720"/>
          </a:xfrm>
          <a:prstGeom prst="roundRect">
            <a:avLst/>
          </a:prstGeom>
          <a:solidFill>
            <a:srgbClr val="FEF5E0"/>
          </a:solidFill>
          <a:ln w="12700">
            <a:solidFill>
              <a:srgbClr val="C49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93776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C4972F"/>
                </a:solidFill>
              </a:defRPr>
            </a:pPr>
            <a:r>
              <a:t>핵심 통계 개념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03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t-statistic &gt; 2.0 → 통계적으로 유의 (우연이 아님, 95% 신뢰)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Sharpe Ratio = 평균수익률 / 변동성 → 위험 대비 수익. 0.5 이상이면 "꽤 좋은" 전략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GRS test: "모든 포트폴리오의 alpha가 동시에 0인가?" → p-value가 작으면 alpha 존재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7 / 37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 b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결과 1 — 주식 4개국에서 모두 유의 (Table I)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Value와 Momentum 프리미엄: 개별 주식 시장별 요약 (Signal-Weighted Factor)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371600"/>
                <a:gridCol w="1371600"/>
                <a:gridCol w="1554480"/>
                <a:gridCol w="1371600"/>
                <a:gridCol w="1371600"/>
                <a:gridCol w="2468880"/>
              </a:tblGrid>
              <a:tr h="381000"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C497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Momentum</a:t>
                      </a:r>
                    </a:p>
                  </a:txBody>
                  <a:tcPr anchor="ctr">
                    <a:solidFill>
                      <a:srgbClr val="C497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C4972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Mean (%)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t-stat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Sharpe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Mean (%)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t-stat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Sharpe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3.8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3.63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0.49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7.8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4.57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0.61</a:t>
                      </a:r>
                    </a:p>
                  </a:txBody>
                  <a:tcPr anchor="ctr"/>
                </a:tc>
              </a:tr>
              <a:tr h="38100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UK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5.4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3.72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0.56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9.3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4.33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0.66</a:t>
                      </a:r>
                    </a:p>
                  </a:txBody>
                  <a:tcPr anchor="ctr"/>
                </a:tc>
              </a:tr>
              <a:tr h="38100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Europe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6.4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4.53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0.65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9.4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5.49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0.79</a:t>
                      </a:r>
                    </a:p>
                  </a:txBody>
                  <a:tcPr anchor="ctr"/>
                </a:tc>
              </a:tr>
              <a:tr h="38100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Japan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6.0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3.43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0.77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2.1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0.72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C62828"/>
                          </a:solidFill>
                        </a:defRPr>
                      </a:pPr>
                      <a:r>
                        <a:t>0.13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206240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9E1B34"/>
                </a:solidFill>
              </a:defRPr>
            </a:pPr>
            <a:r>
              <a:t>핵심 발견: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2628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4개국 모두에서 Value와 Momentum 프리미엄 존재 → "미국만의 현상이 아니다"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Europe가 가장 강함: Value SR=0.65, Momentum SR=0.79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일본은 특이: Value 매우 강함(SR=0.77) but Momentum 약함(SR=0.13, t=0.72)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★ 일본 Momentum 약한 이유? → 논문은 "일본 시장의 구조적 특성" 가능성 언급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8 / 37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 b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결과 2 — 비주식 자산에서도 동일 패턴! (Table I)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91672" cy="64008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C49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"주식만의 현상이 아닐까?" → 아니다. 통화, 채권, 원자재에서도 통한다.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0312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1554480"/>
                <a:gridCol w="1371600"/>
                <a:gridCol w="1371600"/>
                <a:gridCol w="2194560"/>
              </a:tblGrid>
              <a:tr h="402336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자산군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 Mean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 t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 SR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Mom Mean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Mom t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Mom SR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국가지수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5.0%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2.06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0.37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7.8%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2.58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0.46</a:t>
                      </a:r>
                    </a:p>
                  </a:txBody>
                  <a:tcPr anchor="ctr"/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통화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2.5%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1.85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0.33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4.0%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2.36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0.42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채권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99999"/>
                          </a:solidFill>
                        </a:defRPr>
                      </a:pPr>
                      <a:r>
                        <a:t>1.2%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99999"/>
                          </a:solidFill>
                        </a:defRPr>
                      </a:pPr>
                      <a:r>
                        <a:t>1.33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99999"/>
                          </a:solidFill>
                        </a:defRPr>
                      </a:pPr>
                      <a:r>
                        <a:t>0.24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99999"/>
                          </a:solidFill>
                        </a:defRPr>
                      </a:pPr>
                      <a:r>
                        <a:t>2.0%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99999"/>
                          </a:solidFill>
                        </a:defRPr>
                      </a:pPr>
                      <a:r>
                        <a:t>1.11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99999"/>
                          </a:solidFill>
                        </a:defRPr>
                      </a:pPr>
                      <a:r>
                        <a:t>0.20</a:t>
                      </a:r>
                    </a:p>
                  </a:txBody>
                  <a:tcPr anchor="ctr"/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원자재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4.6%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2.13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0.38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5.2%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1.91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0.34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297680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9E1B34"/>
                </a:solidFill>
              </a:defRPr>
            </a:pPr>
            <a:r>
              <a:t>핵심 해석: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6344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국가지수와 원자재: Value와 Momentum 모두 유의한 프리미엄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통화: 방향성은 맞지만 통계적 유의성은 경계선 (Value t=1.85)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채권: 가장 약함 — 단순 yield 시그널의 한계. 논문 대안지표(BRP) 사용 시 개선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★ 결론: 주식뿐 아니라 거의 모든 자산군에서 Value/Momentum이 존재 → "보편적 현상"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9 / 37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 b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Table I Panel C — 채권 Value: 측정 방법이 중요하다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91672" cy="64008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C49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"채권 Value가 약하다" → 사실은 시그널 선택의 문제였다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9E1B34"/>
                </a:solidFill>
              </a:defRPr>
            </a:pPr>
            <a:r>
              <a:t>채권 Value 시그널별 Sharpe Ratio 비교 (Panel C)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423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6858000"/>
                <a:gridCol w="1280160"/>
              </a:tblGrid>
              <a:tr h="438912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 시그널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Sharpe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5-year yield change (기본)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5년간 금리 변화의 역수 — 금리가 많이 오른(채권 많이 빠진) 국채 매수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C62828"/>
                          </a:solidFill>
                        </a:defRPr>
                      </a:pPr>
                      <a:r>
                        <a:t>0.18</a:t>
                      </a:r>
                    </a:p>
                  </a:txBody>
                  <a:tcPr anchor="ctr"/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Real bond yield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명목 금리 − 인플레이션 전망 = 실질 금리가 높을수록 저평가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2E7D32"/>
                          </a:solidFill>
                        </a:defRPr>
                      </a:pPr>
                      <a:r>
                        <a:t>0.73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Term spread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10년물 − 단기 금리 = 기간 프리미엄이 클수록 저평가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C4972F"/>
                          </a:solidFill>
                        </a:defRPr>
                      </a:pPr>
                      <a:r>
                        <a:t>0.48</a:t>
                      </a:r>
                    </a:p>
                  </a:txBody>
                  <a:tcPr anchor="ctr"/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Composite (3개 평균)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3개 시그널 동시 사용 → 노이즈 상쇄, 정보 결합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2E7D32"/>
                          </a:solidFill>
                        </a:defRPr>
                      </a:pPr>
                      <a:r>
                        <a:t>0.87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800600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9E1B34"/>
                </a:solidFill>
              </a:defRPr>
            </a:pPr>
            <a:r>
              <a:t>핵심 인사이트: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기본 시그널(5yr yield change)만 보면 Sharpe 0.18 — "채권은 약하다"는 인상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Real bond yield를 쓰면 Sharpe 0.73, 복합 지표는 0.87 — 주식 수준으로 도달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★ 메시지: "채권 Value가 약한 것"이 아니라 "측정 방법이 잘못된 것" — 시그널 설계가 전략의 성패를 좌우한다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10 / 37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 b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마법의 조합 — Value + Momentum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91672" cy="64008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C49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핵심 발견: Corr(Value, Momentum) ≈ -0.55 → 50/50 조합이 개별보다 훨씬 우수!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0312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2743200"/>
                <a:gridCol w="2377440"/>
              </a:tblGrid>
              <a:tr h="35560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자산군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 SR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Mom SR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50/50 Combo SR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개선 (%)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US 주식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0.49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0.61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9E1B34"/>
                          </a:solidFill>
                        </a:defRPr>
                      </a:pPr>
                      <a:r>
                        <a:t>0.89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+46%</a:t>
                      </a:r>
                    </a:p>
                  </a:txBody>
                  <a:tcPr anchor="ctr"/>
                </a:tc>
              </a:tr>
              <a:tr h="35560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UK 주식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0.56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0.66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9E1B34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+52%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Europe 주식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0.65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0.79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9E1B34"/>
                          </a:solidFill>
                        </a:defRPr>
                      </a:pPr>
                      <a:r>
                        <a:t>1.19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+51%</a:t>
                      </a:r>
                    </a:p>
                  </a:txBody>
                  <a:tcPr anchor="ctr"/>
                </a:tc>
              </a:tr>
              <a:tr h="35560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Japan 주식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0.77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0.13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9E1B34"/>
                          </a:solidFill>
                        </a:defRPr>
                      </a:pPr>
                      <a:r>
                        <a:t>0.66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C62828"/>
                          </a:solidFill>
                        </a:defRPr>
                      </a:pPr>
                      <a:r>
                        <a:t>-14%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국가지수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0.37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0.46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9E1B34"/>
                          </a:solidFill>
                        </a:defRPr>
                      </a:pPr>
                      <a:r>
                        <a:t>0.62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+35%</a:t>
                      </a:r>
                    </a:p>
                  </a:txBody>
                  <a:tcPr anchor="ctr"/>
                </a:tc>
              </a:tr>
              <a:tr h="35560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통화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0.33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0.42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9E1B34"/>
                          </a:solidFill>
                        </a:defRPr>
                      </a:pPr>
                      <a:r>
                        <a:t>0.60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+43%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원자재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0.38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0.34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9E1B34"/>
                          </a:solidFill>
                        </a:defRPr>
                      </a:pPr>
                      <a:r>
                        <a:t>0.56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+56%</a:t>
                      </a:r>
                    </a:p>
                  </a:txBody>
                  <a:tcPr anchor="ctr"/>
                </a:tc>
              </a:tr>
              <a:tr h="35560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Global All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0.88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1.19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9E1B34"/>
                          </a:solidFill>
                        </a:defRPr>
                      </a:pPr>
                      <a:r>
                        <a:t>1.59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+34%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9E1B34"/>
                </a:solidFill>
              </a:defRPr>
            </a:pPr>
            <a:r>
              <a:t>★ Global All Combo SR = 1.59: 두 전략을 합치면 위험 대비 수익이 극적으로 개선된다.</a:t>
            </a:r>
            <a:br/>
            <a:r>
              <a:t>   이유: Value와 Momentum의 음의 상관관계(-0.55) → 한쪽이 나쁠 때 다른 쪽이 보완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11 / 37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 b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왜 조합이 좋을까? — 직관적 이해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029200" cy="2286000"/>
          </a:xfrm>
          <a:prstGeom prst="roundRect">
            <a:avLst/>
          </a:prstGeom>
          <a:solidFill>
            <a:srgbClr val="FEF9F0"/>
          </a:solidFill>
          <a:ln w="12700">
            <a:solidFill>
              <a:srgbClr val="C49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663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C4972F"/>
                </a:solidFill>
              </a:defRPr>
            </a:pPr>
            <a:r>
              <a:t>비유: 우산 장사 + 아이스크림 장사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비 오면 우산 매출 ↑, 아이스크림 매출 ↓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맑으면 우산 매출 ↓, 아이스크림 매출 ↑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둘 다 하면? → 날씨에 관계없이 안정적!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Value = 우산 (위기에 강), Momentum = 아이스크림 (호황에 강)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188720"/>
            <a:ext cx="5029200" cy="2286000"/>
          </a:xfrm>
          <a:prstGeom prst="roundRect">
            <a:avLst/>
          </a:prstGeom>
          <a:solidFill>
            <a:srgbClr val="F2E0E4"/>
          </a:solidFill>
          <a:ln w="12700">
            <a:solidFill>
              <a:srgbClr val="9E1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280160"/>
            <a:ext cx="4663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9E1B34"/>
                </a:solidFill>
              </a:defRPr>
            </a:pPr>
            <a:r>
              <a:t>학문적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6916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Value = 역발상 (떨어진 자산 매수)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Momentum = 추세추종 (오르는 자산 매수)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서로 반대 성격 → 같은 자산이 동시에 둘 다일 수 없음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Corr ≈ -0.55: 수학적으로 분산 감소 → Sharpe 급상승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9E1B34"/>
                </a:solidFill>
              </a:defRPr>
            </a:pPr>
            <a:r>
              <a:t>Figure 2: 글로벌 누적 수익률 — Value, Momentum, Combo 비교</a:t>
            </a:r>
          </a:p>
        </p:txBody>
      </p:sp>
      <p:pic>
        <p:nvPicPr>
          <p:cNvPr id="11" name="Picture 10" descr="figure2_cumulative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114800"/>
            <a:ext cx="9144000" cy="2103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12 / 37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 b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놀라운 발견 — 전 세계가 같이 움직인다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91672" cy="64008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C49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"미국 주식의 Value와 일본 주식의 Value가 관련이 있을까?" → 있다!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9E1B34"/>
                </a:solidFill>
              </a:defRPr>
            </a:pPr>
            <a:r>
              <a:t>Table II — 상관관계 구조 (Panel A 요약)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46888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286000"/>
                <a:gridCol w="5120640"/>
              </a:tblGrid>
              <a:tr h="38100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상관관계 쌍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평균 상관계수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의미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Value ↔ Value (같은 유형)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2E7D32"/>
                          </a:solidFill>
                        </a:defRPr>
                      </a:pPr>
                      <a:r>
                        <a:t>+0.60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Value끼리 같은 방향으로 움직임</a:t>
                      </a:r>
                    </a:p>
                  </a:txBody>
                  <a:tcPr anchor="ctr"/>
                </a:tc>
              </a:tr>
              <a:tr h="38100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Mom ↔ Mom (같은 유형)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2E7D32"/>
                          </a:solidFill>
                        </a:defRPr>
                      </a:pPr>
                      <a:r>
                        <a:t>+0.64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Momentum끼리 같은 방향으로 움직임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Value ↔ Mom (다른 유형)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C62828"/>
                          </a:solidFill>
                        </a:defRPr>
                      </a:pPr>
                      <a:r>
                        <a:t>-0.54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Value와 Momentum은 반대로 움직임</a:t>
                      </a:r>
                    </a:p>
                  </a:txBody>
                  <a:tcPr anchor="ctr"/>
                </a:tc>
              </a:tr>
              <a:tr h="38100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Stock Val ↔ Nonstock Val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2E7D32"/>
                          </a:solidFill>
                        </a:defRPr>
                      </a:pPr>
                      <a:r>
                        <a:t>+0.15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주식과 비주식의 Value도 연결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Stock Mom ↔ Nonstock Mom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2E7D32"/>
                          </a:solidFill>
                        </a:defRPr>
                      </a:pPr>
                      <a:r>
                        <a:t>+0.37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주식과 비주식의 Momentum도 연결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937760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9E1B34"/>
                </a:solidFill>
              </a:defRPr>
            </a:pPr>
            <a:r>
              <a:t>이것이 왜 중요한가?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0352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같은 유형끼리 양(+) → "글로벌 공통 요인"이 존재한다는 증거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다른 유형은 음(-) → Value와 Momentum이 전 세계적으로 반대로 움직임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★ 기존 이론으로 설명 불가: 미국 투자자 편향(행동재무학)도, 기업 투자 이론(합리적)도 이걸 설명 못함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13 / 37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 b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Table II Panel B — 개별 자산군 간 세부 상관관계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8개 자산군 간 Value↔Value, Momentum↔Momentum 교차 상관 (Panel B 핵심 수치)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1645920"/>
                <a:gridCol w="1280160"/>
                <a:gridCol w="914400"/>
                <a:gridCol w="3200400"/>
              </a:tblGrid>
              <a:tr h="391885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자산군 A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자산군 B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상관 유형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상관계수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유의성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해석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Global Stock Val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Country Index Val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9E1B34"/>
                          </a:solidFill>
                        </a:defRPr>
                      </a:pPr>
                      <a:r>
                        <a:t>Val ↔ Val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2E7D32"/>
                          </a:solidFill>
                        </a:defRPr>
                      </a:pPr>
                      <a:r>
                        <a:t>+0.27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*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주식 개별 ↔ 국가지수 가치 연동</a:t>
                      </a:r>
                    </a:p>
                  </a:txBody>
                  <a:tcPr anchor="ctr"/>
                </a:tc>
              </a:tr>
              <a:tr h="391885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Global Stock Val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FX Val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9E1B34"/>
                          </a:solidFill>
                        </a:defRPr>
                      </a:pPr>
                      <a:r>
                        <a:t>Val ↔ Val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2E7D32"/>
                          </a:solidFill>
                        </a:defRPr>
                      </a:pPr>
                      <a:r>
                        <a:t>+0.18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*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주식 ↔ 통화 가치 연동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Global Stock Val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Bond Val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9E1B34"/>
                          </a:solidFill>
                        </a:defRPr>
                      </a:pPr>
                      <a:r>
                        <a:t>Val ↔ Val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2E7D32"/>
                          </a:solidFill>
                        </a:defRPr>
                      </a:pPr>
                      <a:r>
                        <a:t>+0.12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주식 ↔ 채권 가치 약한 연동</a:t>
                      </a:r>
                    </a:p>
                  </a:txBody>
                  <a:tcPr anchor="ctr"/>
                </a:tc>
              </a:tr>
              <a:tr h="391885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Global Stock Val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Currency Mom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999999"/>
                          </a:solidFill>
                        </a:defRPr>
                      </a:pPr>
                      <a:r>
                        <a:t>Val ↔ Mom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C62828"/>
                          </a:solidFill>
                        </a:defRPr>
                      </a:pPr>
                      <a:r>
                        <a:t>-0.20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*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주식가치 ↔ 통화모멘텀 반대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Country Idx Mom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FX Mom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C4972F"/>
                          </a:solidFill>
                        </a:defRPr>
                      </a:pPr>
                      <a:r>
                        <a:t>Mom ↔ Mom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2E7D32"/>
                          </a:solidFill>
                        </a:defRPr>
                      </a:pPr>
                      <a:r>
                        <a:t>+0.31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*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국가지수 ↔ 통화 모멘텀 연동</a:t>
                      </a:r>
                    </a:p>
                  </a:txBody>
                  <a:tcPr anchor="ctr"/>
                </a:tc>
              </a:tr>
              <a:tr h="39189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Country Idx Mom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Commodity Mom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C4972F"/>
                          </a:solidFill>
                        </a:defRPr>
                      </a:pPr>
                      <a:r>
                        <a:t>Mom ↔ Mom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2E7D32"/>
                          </a:solidFill>
                        </a:defRPr>
                      </a:pPr>
                      <a:r>
                        <a:t>+0.22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*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국가지수 ↔ 원자재 모멘텀 연동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526280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</a:defRPr>
            </a:pPr>
            <a:r>
              <a:t>* = 5% 수준에서 통계적으로 유의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37760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9E1B34"/>
                </a:solidFill>
              </a:defRPr>
            </a:pPr>
            <a:r>
              <a:t>Panel B가 말하는 것: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578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Val↔Val 교차 상관은 자산군마다 다르지만 대부분 양(+) — 공통 요인의 증거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Val↔Mom 교차 상관은 자산군을 넘어서도 음(-) — "글로벌 Value-Momentum 반전" 구조 확인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★ Panel A(평균)만 보면 놓치는 세부 구조를 Panel B가 드러낸다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14 / 37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 b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공통 원인이 있다 — 주성분 분석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9E1B34"/>
                </a:solidFill>
              </a:defRPr>
            </a:pPr>
            <a:r>
              <a:t>Figure 1: 주성분 분석 (PCA)</a:t>
            </a:r>
          </a:p>
        </p:txBody>
      </p:sp>
      <p:pic>
        <p:nvPicPr>
          <p:cNvPr id="5" name="Picture 4" descr="figure1_cumulative_by_as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0292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118872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9E1B34"/>
                </a:solidFill>
              </a:defRPr>
            </a:pPr>
            <a:r>
              <a:t>주성분 분석이란?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55448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"여러 변수에서 공통된 움직임을 추출하는 통계 기법"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1st Principal Component = 가장 큰 공통 움직임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전체 변동의 54%를 설명 → 매우 강력한 공통 요인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3200400"/>
            <a:ext cx="5029200" cy="2103120"/>
          </a:xfrm>
          <a:prstGeom prst="roundRect">
            <a:avLst/>
          </a:prstGeom>
          <a:solidFill>
            <a:srgbClr val="F2E0E4"/>
          </a:solidFill>
          <a:ln w="12700">
            <a:solidFill>
              <a:srgbClr val="9E1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3291840"/>
            <a:ext cx="4663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9E1B34"/>
                </a:solidFill>
              </a:defRPr>
            </a:pPr>
            <a:r>
              <a:t>1st PC의 로딩 패턴: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61188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모든 Value factor: 양(+) 로딩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모든 Momentum factor: 음(-) 로딩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→ "글로벌 Value-Momentum 요인" 하나로 설명 가능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★ Value가 좋을 때 Momentum이 나쁘고, 그 반대도 성립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94960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C4972F"/>
                </a:solidFill>
              </a:defRPr>
            </a:pPr>
            <a:r>
              <a:t>이론적 함의: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기존 이론의 도전: 행동재무학(투자자 비합리성)도, 합리적 이론(위험 보상)도 이 글로벌 패턴을 완전히 설명하지 못함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새로운 이론 필요: "무엇이 전 세계 모든 자산군에서 동시에 Value(+)와 Momentum(-)을 만드는가?"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15 / 37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 b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Table III — 매크로 리스크 변수와 Value/Momentum 수익률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91672" cy="64008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C49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"Value와 Momentum은 어떤 거시경제 상황에서 수익을 내는가?"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다변량 회귀 결과 요약 (종속변수: 월간 팩터 수익률)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423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188720"/>
                <a:gridCol w="1371600"/>
                <a:gridCol w="1188720"/>
                <a:gridCol w="1371600"/>
                <a:gridCol w="3657600"/>
              </a:tblGrid>
              <a:tr h="42672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매크로 변수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 계수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 t-stat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Mom 계수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Mom t-stat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해석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TERM (기간 프리미엄)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9E1B34"/>
                          </a:solidFill>
                        </a:defRPr>
                      </a:pPr>
                      <a:r>
                        <a:t>2.1*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9E1B34"/>
                          </a:solidFill>
                        </a:defRPr>
                      </a:pPr>
                      <a:r>
                        <a:t>1.8*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장기채 수익 좋을 때 둘 다 ↑</a:t>
                      </a:r>
                    </a:p>
                  </a:txBody>
                  <a:tcPr anchor="ctr"/>
                </a:tc>
              </a:tr>
              <a:tr h="42672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DEF (신용 스프레드)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+ (Val)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9E1B34"/>
                          </a:solidFill>
                        </a:defRPr>
                      </a:pPr>
                      <a:r>
                        <a:t>2.3*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C62828"/>
                          </a:solidFill>
                        </a:defRPr>
                      </a:pPr>
                      <a:r>
                        <a:t>− (Mom)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9E1B34"/>
                          </a:solidFill>
                        </a:defRPr>
                      </a:pPr>
                      <a:r>
                        <a:t>−2.1*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위기(DEF↑): Val↑ Mom↓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GDP 성장률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C62828"/>
                          </a:solidFill>
                        </a:defRPr>
                      </a:pPr>
                      <a:r>
                        <a:t>−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99999"/>
                          </a:solidFill>
                        </a:defRPr>
                      </a:pPr>
                      <a:r>
                        <a:t>−1.4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9E1B34"/>
                          </a:solidFill>
                        </a:defRPr>
                      </a:pPr>
                      <a:r>
                        <a:t>1.9*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경기 좋으면 Mom ↑, Val ↓</a:t>
                      </a:r>
                    </a:p>
                  </a:txBody>
                  <a:tcPr anchor="ctr"/>
                </a:tc>
              </a:tr>
              <a:tr h="42672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Recession 더미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C62828"/>
                          </a:solidFill>
                        </a:defRPr>
                      </a:pPr>
                      <a:r>
                        <a:t>−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99999"/>
                          </a:solidFill>
                        </a:defRPr>
                      </a:pPr>
                      <a:r>
                        <a:t>−1.2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C62828"/>
                          </a:solidFill>
                        </a:defRPr>
                      </a:pPr>
                      <a:r>
                        <a:t>−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9E1B34"/>
                          </a:solidFill>
                        </a:defRPr>
                      </a:pPr>
                      <a:r>
                        <a:t>−2.4*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경기침체: Mom 타격 더 큼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인플레이션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C62828"/>
                          </a:solidFill>
                        </a:defRPr>
                      </a:pPr>
                      <a:r>
                        <a:t>−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99999"/>
                          </a:solidFill>
                        </a:defRPr>
                      </a:pPr>
                      <a:r>
                        <a:t>−0.8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99999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방향은 있지만 유의하지 않음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166360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</a:defRPr>
            </a:pPr>
            <a:r>
              <a:t>★ = 5% 수준 유의  |  핵심 결론: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DEF(신용 스프레드) 변수: Value와 Momentum에 반대 부호 → 위기 시 음의 상관관계를 매크로 회귀에서도 확인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Recession 더미: Momentum 수익이 경기침체에 더 민감 → "위기에 약한 Momentum" 일관된 패턴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16 / 37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 b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왜 이런 패턴이? — 유동성 리스크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91672" cy="64008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C49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"전 세계가 같이 움직이는 원인이 뭘까?" → 유동성 리스크가 부분적 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029200" cy="2743200"/>
          </a:xfrm>
          <a:prstGeom prst="roundRect">
            <a:avLst/>
          </a:prstGeom>
          <a:solidFill>
            <a:srgbClr val="FEF0F0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4663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C62828"/>
                </a:solidFill>
              </a:defRPr>
            </a:pPr>
            <a:r>
              <a:t>1998년 LTCM 사태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LTCM: 노벨상 수상자가 만든 초대형 헤지펀드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러시아 채무불이행 → 글로벌 유동성 위기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모멘텀 전략 대폭락 (-40% in 3개월)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가치 전략은 상대적으로 버팀 → 음의 상관관계의 극적 예시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★ 모멘텀은 "인기 있는 거래" → 유동성 위기 시 모두 같은 출구로 몰림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103120"/>
            <a:ext cx="5029200" cy="2743200"/>
          </a:xfrm>
          <a:prstGeom prst="roundRect">
            <a:avLst/>
          </a:prstGeom>
          <a:solidFill>
            <a:srgbClr val="F2E0E4"/>
          </a:solidFill>
          <a:ln w="12700">
            <a:solidFill>
              <a:srgbClr val="9E1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194560"/>
            <a:ext cx="4663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9E1B34"/>
                </a:solidFill>
              </a:defRPr>
            </a:pPr>
            <a:r>
              <a:t>유동성 리스크 가설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60604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Momentum = 추세추종 → "crowded trade" (인기 매매)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유동성 위기 → 모두 동시에 탈출 시도 → 손실 폭발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Value = 역발상 → 덜 "crowded" → 위기에 상대적 안전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이 비대칭이 음의 상관관계를 만든다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TED spread ↑ → Momentum (-), Value (+)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C4972F"/>
                </a:solidFill>
              </a:defRPr>
            </a:pPr>
            <a:r>
              <a:t>하지만...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406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유동성 리스크만으로는 충분하지 않다: R² &lt; 5% (설명력 매우 낮음)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Table IV에서 방향성은 맞지만 경제적 크기는 작음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★ "유동성은 퍼즐의 한 조각이지, 전체 그림이 아니다" — 논문의 솔직한 인정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17 / 37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 b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유동성 변수와 Value/Momentum (Table III-IV)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9E1B34"/>
                </a:solidFill>
              </a:defRPr>
            </a:pPr>
            <a:r>
              <a:t>Figure 3-4: 거시경제 변수와 수익률의 관계</a:t>
            </a:r>
          </a:p>
        </p:txBody>
      </p:sp>
      <p:pic>
        <p:nvPicPr>
          <p:cNvPr id="5" name="Picture 4" descr="figure3_4_macro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0292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118872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9E1B34"/>
                </a:solidFill>
              </a:defRPr>
            </a:pPr>
            <a:r>
              <a:t>Table IV 핵심 결과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0" y="155448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00200"/>
                <a:gridCol w="1600200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변수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 방향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Mom 방향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TED Spread ↑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2E7D32"/>
                          </a:solidFill>
                        </a:defRPr>
                      </a:pPr>
                      <a:r>
                        <a:t>+(좋아짐)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C62828"/>
                          </a:solidFill>
                        </a:defRPr>
                      </a:pPr>
                      <a:r>
                        <a:t>-(나빠짐)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VIX ↑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2E7D32"/>
                          </a:solidFill>
                        </a:defRPr>
                      </a:pPr>
                      <a:r>
                        <a:t>+(좋아짐)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C62828"/>
                          </a:solidFill>
                        </a:defRPr>
                      </a:pPr>
                      <a:r>
                        <a:t>-(나빠짐)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GDP 성장 ↓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2E7D32"/>
                          </a:solidFill>
                        </a:defRPr>
                      </a:pPr>
                      <a:r>
                        <a:t>+(좋아짐)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C62828"/>
                          </a:solidFill>
                        </a:defRPr>
                      </a:pPr>
                      <a:r>
                        <a:t>-(나빠짐)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유동성 위기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2E7D32"/>
                          </a:solidFill>
                        </a:defRPr>
                      </a:pPr>
                      <a:r>
                        <a:t>상대적 안전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C62828"/>
                          </a:solidFill>
                        </a:defRPr>
                      </a:pPr>
                      <a:r>
                        <a:t>대폭락 위험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572000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9E1B34"/>
                </a:solidFill>
              </a:defRPr>
            </a:pPr>
            <a:r>
              <a:t>종합 해석: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920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TED spread(은행 간 신용 위험 지표) ↑ → Value 수익 ↑, Momentum 수익 ↓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불확실성(VIX) ↑ → 같은 패턴 → 위기 시 반대 방향 노출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하지만 R² &lt; 5%: 이 변수들이 설명하는 비율은 매우 작음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★ "유동성 리스크는 Value-Momentum 상관관계의 원인 중 하나이지만, 전부가 아니다"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18 / 37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 b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Table IV Panel B — 글로벌 유동성 확장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글로벌 유동성 지표로 확장 시 패턴이 더욱 선명해진다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1828800"/>
                <a:gridCol w="1645920"/>
                <a:gridCol w="3200400"/>
              </a:tblGrid>
              <a:tr h="43434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유동성 변수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 계수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 t-stat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Mom 계수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Mom t-stat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US TED Spread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2E7D32"/>
                          </a:solidFill>
                        </a:defRPr>
                      </a:pPr>
                      <a:r>
                        <a:t>0.0023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99999"/>
                          </a:solidFill>
                        </a:defRPr>
                      </a:pPr>
                      <a:r>
                        <a:t>1.42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C62828"/>
                          </a:solidFill>
                        </a:defRPr>
                      </a:pPr>
                      <a:r>
                        <a:t>-0.0031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99999"/>
                          </a:solidFill>
                        </a:defRPr>
                      </a:pPr>
                      <a:r>
                        <a:t>-1.88</a:t>
                      </a:r>
                    </a:p>
                  </a:txBody>
                  <a:tcPr anchor="ctr"/>
                </a:tc>
              </a:tr>
              <a:tr h="434340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Global TED (평균)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C62828"/>
                          </a:solidFill>
                        </a:defRPr>
                      </a:pPr>
                      <a:r>
                        <a:t>-0.0067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99999"/>
                          </a:solidFill>
                        </a:defRPr>
                      </a:pPr>
                      <a:r>
                        <a:t>-1.69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2E7D32"/>
                          </a:solidFill>
                        </a:defRPr>
                      </a:pPr>
                      <a:r>
                        <a:t>0.0094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C4972F"/>
                          </a:solidFill>
                        </a:defRPr>
                      </a:pPr>
                      <a:r>
                        <a:t>2.00*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Funding Liquidity PC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C62828"/>
                          </a:solidFill>
                        </a:defRPr>
                      </a:pPr>
                      <a:r>
                        <a:t>-0.0094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9E1B34"/>
                          </a:solidFill>
                        </a:defRPr>
                      </a:pPr>
                      <a:r>
                        <a:t>-4.74***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0.0112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9E1B34"/>
                          </a:solidFill>
                        </a:defRPr>
                      </a:pPr>
                      <a:r>
                        <a:t>3.58***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52044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US TED Spread만으로는 유의하지 않음 (t = 1.42, 1.88) — 미국 단독 지표의 한계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Global TED(10개국 평균): Momentum이 t=2.00으로 유의 — 글로벌로 보면 패턴이 선명해진다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Funding Liquidity PC: Value t=−4.74***, Mom t=3.58*** — 가장 강한 결과</a:t>
            </a:r>
          </a:p>
          <a:p>
            <a:pPr>
              <a:spcAft>
                <a:spcPts val="200"/>
              </a:spcAft>
              <a:defRPr sz="1300" b="1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Funding Liquidity PC란?</a:t>
            </a:r>
          </a:p>
          <a:p>
            <a:pPr>
              <a:spcAft>
                <a:spcPts val="600"/>
              </a:spcAft>
              <a:defRPr sz="1100">
                <a:solidFill>
                  <a:srgbClr val="999999"/>
                </a:solidFill>
              </a:defRPr>
            </a:pPr>
            <a:r>
              <a:t>   Pástor-Stambaugh, Sadka, Acharya-Pedersen 3개 유동성 지표의 주성분 → 글로벌 자금조달 유동성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★ 핵심: 자금조달 유동성 위기 시 Value 수익 하락, Momentum 수익 상승 → 반대 방향 노출이 통계적으로 강하게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19 / 37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 b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Figure 3 — 글로벌 유동성 쇼크 시계열 (1987~2011)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주요 금융 위기 시점에서의 유동성 쇼크와 팩터 수익률 반응</a:t>
            </a:r>
          </a:p>
        </p:txBody>
      </p:sp>
      <p:pic>
        <p:nvPicPr>
          <p:cNvPr id="5" name="Picture 4" descr="figure3_4_macro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9436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6560" y="1188720"/>
            <a:ext cx="4754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9E1B34"/>
                </a:solidFill>
              </a:defRPr>
            </a:pPr>
            <a:r>
              <a:t>주요 유동성 쇼크 이벤트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00200"/>
            <a:ext cx="4754880" cy="384048"/>
          </a:xfrm>
          <a:prstGeom prst="roundRect">
            <a:avLst/>
          </a:prstGeom>
          <a:solidFill>
            <a:srgbClr val="FEF0F0"/>
          </a:solidFill>
          <a:ln w="63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636776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C62828"/>
                </a:solidFill>
              </a:defRPr>
            </a:pPr>
            <a:r>
              <a:t>1987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636776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Black Monday — 주가 하루 22% 폭락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2029968"/>
            <a:ext cx="4754880" cy="384048"/>
          </a:xfrm>
          <a:prstGeom prst="roundRect">
            <a:avLst/>
          </a:prstGeom>
          <a:solidFill>
            <a:srgbClr val="FEF0F0"/>
          </a:solidFill>
          <a:ln w="63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066544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C62828"/>
                </a:solidFill>
              </a:defRPr>
            </a:pPr>
            <a:r>
              <a:t>1990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066544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Gulf War — 원유 급등, 신용 위축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2459736"/>
            <a:ext cx="4754880" cy="384048"/>
          </a:xfrm>
          <a:prstGeom prst="roundRect">
            <a:avLst/>
          </a:prstGeom>
          <a:solidFill>
            <a:srgbClr val="FEF0F0"/>
          </a:solidFill>
          <a:ln w="63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2496312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C62828"/>
                </a:solidFill>
              </a:defRPr>
            </a:pPr>
            <a:r>
              <a:t>1998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496312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LTCM 위기 — Momentum -40% 폭락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2889504"/>
            <a:ext cx="4754880" cy="384048"/>
          </a:xfrm>
          <a:prstGeom prst="roundRect">
            <a:avLst/>
          </a:prstGeom>
          <a:solidFill>
            <a:srgbClr val="FEF0F0"/>
          </a:solidFill>
          <a:ln w="63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92608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C62828"/>
                </a:solidFill>
              </a:defRPr>
            </a:pPr>
            <a:r>
              <a:t>2001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9/11 테러 — 전 세계 시장 동시 충격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3319272"/>
            <a:ext cx="4754880" cy="384048"/>
          </a:xfrm>
          <a:prstGeom prst="roundRect">
            <a:avLst/>
          </a:prstGeom>
          <a:solidFill>
            <a:srgbClr val="FEF0F0"/>
          </a:solidFill>
          <a:ln w="63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3355848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C62828"/>
                </a:solidFill>
              </a:defRPr>
            </a:pPr>
            <a:r>
              <a:t>2007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355848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Quant Meltdown — 퀀트 펀드 일제히 손실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3749040"/>
            <a:ext cx="4754880" cy="384048"/>
          </a:xfrm>
          <a:prstGeom prst="roundRect">
            <a:avLst/>
          </a:prstGeom>
          <a:solidFill>
            <a:srgbClr val="FEF0F0"/>
          </a:solidFill>
          <a:ln w="63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85616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C62828"/>
                </a:solidFill>
              </a:defRPr>
            </a:pPr>
            <a:r>
              <a:t>2008 Q1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3785616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Bear Stearns 파산 — 서브프라임 확산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0" y="4178808"/>
            <a:ext cx="4754880" cy="384048"/>
          </a:xfrm>
          <a:prstGeom prst="roundRect">
            <a:avLst/>
          </a:prstGeom>
          <a:solidFill>
            <a:srgbClr val="FEF0F0"/>
          </a:solidFill>
          <a:ln w="63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215384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C62828"/>
                </a:solidFill>
              </a:defRPr>
            </a:pPr>
            <a:r>
              <a:t>2008 Q4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4215384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Lehman 파산 — 글로벌 금융위기 정점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0292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각 유동성 쇼크 시점에서 Momentum 전략은 급락 — "crowded trade 청산" 패턴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1998 LTCM: Momentum 3개월 -40% — 유동성 쇼크의 가장 극적인 예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2007 Quant Meltdown: 단 며칠 만에 Momentum 전략 대규모 손실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★ 패턴이 반복된다: 위기 때마다 Momentum 폭락, Value 상대적 안전 — 유동성 리스크 가설의 직관적 증거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20 / 37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 b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다자산 평균화의 힘 — 개별은 약해도 합치면 강하다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91672" cy="64008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C49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"개별 자산군에서는 유동성 효과가 약한데, 왜 글로벌에서는 강한가?"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자산군별 유동성 beta의 t-statistic 비교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423160"/>
          <a:ext cx="110642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286000"/>
                <a:gridCol w="2468880"/>
                <a:gridCol w="3383280"/>
              </a:tblGrid>
              <a:tr h="51816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 (평균 t-stat)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Momentum (평균 t-stat)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비고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개별 자산군 (각각)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999999"/>
                          </a:solidFill>
                        </a:defRPr>
                      </a:pPr>
                      <a:r>
                        <a:t>-0.95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C4972F"/>
                          </a:solidFill>
                        </a:defRPr>
                      </a:pPr>
                      <a:r>
                        <a:t>+1.81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평균적으로 유의하지 않음</a:t>
                      </a:r>
                    </a:p>
                  </a:txBody>
                  <a:tcPr anchor="ctr"/>
                </a:tc>
              </a:tr>
              <a:tr h="51816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글로벌 평균 포트폴리오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C62828"/>
                          </a:solidFill>
                        </a:defRPr>
                      </a:pPr>
                      <a:r>
                        <a:t>-3.25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2E7D32"/>
                          </a:solidFill>
                        </a:defRPr>
                      </a:pPr>
                      <a:r>
                        <a:t>+4.43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모두 1% 수준에서 유의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160520"/>
            <a:ext cx="5303520" cy="1645920"/>
          </a:xfrm>
          <a:prstGeom prst="roundRect">
            <a:avLst/>
          </a:prstGeom>
          <a:solidFill>
            <a:srgbClr val="F2E0E4"/>
          </a:solidFill>
          <a:ln w="12700">
            <a:solidFill>
              <a:srgbClr val="9E1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251960"/>
            <a:ext cx="49377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9E1B34"/>
                </a:solidFill>
              </a:defRPr>
            </a:pPr>
            <a:r>
              <a:t>왜 합치면 강해지나? (Averaging Power)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N개 독립 신호의 평균 → 노이즈는 √N 감소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신호(true beta)는 유지 → 신호 대 노이즈 비율 ↑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t-stat ≈ √N × 개별 t-stat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41605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개별 자산군 t=-0.95 → 통계적으로 유의하지 않음 — "이 자산에서 유동성 효과가 있다"고 단언 불가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8개 자산군 평균 t=-3.25 → 1% 수준 유의 — 효과가 존재함을 강력하게 주장 가능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★ 다자산 연구의 핵심 강점: 개별로는 약한 증거를 합쳐서 통계력을 극적으로 높인다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이것이 이 논문이 "Everywhere"를 강조하는 또 다른 이유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21 / 37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 b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글로벌 3-Factor 모델 — 가격결정의 새 기준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9E1B34"/>
                </a:solidFill>
              </a:defRPr>
            </a:pPr>
            <a:r>
              <a:t>세 모델의 글로벌 자산 설명력 비교 (Table V-VI)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743200"/>
                <a:gridCol w="1645920"/>
                <a:gridCol w="1645920"/>
                <a:gridCol w="2926080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모델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팩터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GRS Stat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p-value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평가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CAPM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MKT만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6.02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&lt;0.01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글로벌 설명 불가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Fama-French 3F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MKT + HML + SMB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7.18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&lt;0.01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C62828"/>
                          </a:solidFill>
                        </a:defRPr>
                      </a:pPr>
                      <a:r>
                        <a:t>오히려 더 나빠짐!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VME 3-Factor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MKT + Global VAL + Global MOM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3.72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&lt;0.01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가장 우수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47472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C4972F"/>
                </a:solidFill>
              </a:defRPr>
            </a:pPr>
            <a:r>
              <a:t>GRS Test란?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"모든 포트폴리오의 alpha가 0인가?" 검증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GRS 값이 작을수록 모델이 잘 설명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p-value가 모두 &lt;0.01이므로 완벽한 모델은 없음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하지만 상대적 비교에서 VME가 가장 우수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47472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9E1B34"/>
                </a:solidFill>
              </a:defRPr>
            </a:pPr>
            <a:r>
              <a:t>Figure 5-6: Alpha &amp; Factor Loadings</a:t>
            </a:r>
          </a:p>
        </p:txBody>
      </p:sp>
      <p:pic>
        <p:nvPicPr>
          <p:cNvPr id="9" name="Picture 8" descr="figure5_alpha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840480"/>
            <a:ext cx="2377440" cy="2286000"/>
          </a:xfrm>
          <a:prstGeom prst="rect">
            <a:avLst/>
          </a:prstGeom>
        </p:spPr>
      </p:pic>
      <p:pic>
        <p:nvPicPr>
          <p:cNvPr id="10" name="Picture 9" descr="figure6_factor_load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840480"/>
            <a:ext cx="2377440" cy="228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9E1B34"/>
                </a:solidFill>
              </a:defRPr>
            </a:pPr>
            <a:r>
              <a:t>★ 논문의 제안: 글로벌 자산에는 Fama-French보다 VME 3-Factor (MKT + Global VAL + Global MOM)가 적합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22 / 37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 b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Eq. 4 — 자기 시장 제외한 팩터로도 설명된다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91672" cy="64008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C49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"미국 포트폴리오를 미국 팩터 없이 다른 나라 팩터만으로 설명할 수 있을까?"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57400"/>
            <a:ext cx="11064240" cy="1097280"/>
          </a:xfrm>
          <a:prstGeom prst="roundRect">
            <a:avLst/>
          </a:prstGeom>
          <a:solidFill>
            <a:srgbClr val="F2E0E4"/>
          </a:solidFill>
          <a:ln w="19050">
            <a:solidFill>
              <a:srgbClr val="9E1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9E1B34"/>
                </a:solidFill>
              </a:defRPr>
            </a:pPr>
            <a:r>
              <a:t>Equation 4 (Eq.4):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87168"/>
            <a:ext cx="106984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r_i = α + β_MKT · MKT + v_i · Σ(j≠i) w_j · VAL_j  +  m_i · Σ(j≠i) w_j · MOM_j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C4972F"/>
                </a:solidFill>
              </a:defRPr>
            </a:pPr>
            <a:r>
              <a:t>수식 해설: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r_i = 자산군 i의 포트폴리오 수익률 (예: US Value)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Σ(j≠i) = 자기 자산군(i) 제외한 나머지 자산군들의 팩터로만 구성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→ 미국 포트폴리오를 영국+유럽+일본+비주식 팩터로 설명하는 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983480"/>
            <a:ext cx="11064240" cy="1005840"/>
          </a:xfrm>
          <a:prstGeom prst="roundRect">
            <a:avLst/>
          </a:prstGeom>
          <a:solidFill>
            <a:srgbClr val="FEF5E0"/>
          </a:solidFill>
          <a:ln w="19050">
            <a:solidFill>
              <a:srgbClr val="C49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07492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C4972F"/>
                </a:solidFill>
              </a:defRPr>
            </a:pPr>
            <a:r>
              <a:t>결과 — 놀랍게도 잘 설명된다: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Cross-sectional R² = 0.55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Avg |α| = 22.6 bp/month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5074920"/>
            <a:ext cx="5394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9E1B34"/>
                </a:solidFill>
              </a:defRPr>
            </a:pPr>
            <a:r>
              <a:t>이것이 왜 중요한가: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53949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자기 시장 없이도 R²=0.55 → 공통 글로벌 요인의 강력한 증거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포트폴리오 수익의 절반 이상이 글로벌 공통 요인으로 설명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23 / 37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 b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Figure 5 — 실제 수익률 vs VME 모델 예측치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48개 포트폴리오의 실제 수익률 vs VME 3-Factor 모델 예측치 산점도</a:t>
            </a:r>
          </a:p>
        </p:txBody>
      </p:sp>
      <p:pic>
        <p:nvPicPr>
          <p:cNvPr id="5" name="Picture 4" descr="figure5_alpha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30352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1188720"/>
            <a:ext cx="5394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9E1B34"/>
                </a:solidFill>
              </a:defRPr>
            </a:pPr>
            <a:r>
              <a:t>산점도 읽는 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60020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X축: 모델 예측 수익률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Y축: 실제 수익률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45도 선에 가까울수록 = 모델이 잘 설명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45도 선에서 멀리 떨어진 점 = 설명 못하는 alpha (오류)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이상적: 모든 점이 45도 선 위에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3749039"/>
            <a:ext cx="5394960" cy="1828800"/>
          </a:xfrm>
          <a:prstGeom prst="roundRect">
            <a:avLst/>
          </a:prstGeom>
          <a:solidFill>
            <a:srgbClr val="F2E0E4"/>
          </a:solidFill>
          <a:ln w="12700">
            <a:solidFill>
              <a:srgbClr val="9E1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384048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9E1B34"/>
                </a:solidFill>
              </a:defRPr>
            </a:pPr>
            <a:r>
              <a:t>VME 3-Factor 모델 성능: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20624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Cross-sectional R² = 0.71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Average |alpha| = 18 bp/month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48개 포트폴리오 대부분이 45도 선 근처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9E1B34"/>
                </a:solidFill>
              </a:defRPr>
            </a:pPr>
            <a:r>
              <a:t>★ R²=0.71: 실제 수익률 변동의 71%를 Market + Global Value + Global Momentum 3개 팩터로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24 / 37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 b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Table V — Fama-MacBeth 횡단면 회귀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91672" cy="64008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C49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"팩터 노출도(beta)가 실제로 수익률 차이를 설명하는가?" → Yes, 유동성 beta도 유의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매월 48개 포트폴리오 횡단면 회귀: 수익률 = λ_0 + λ_β·beta + ...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42316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1645920"/>
                <a:gridCol w="5029200"/>
              </a:tblGrid>
              <a:tr h="45720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위험 요인 (beta)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가격 λ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t-stat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의미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Market beta (MKT)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0.0008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99999"/>
                          </a:solidFill>
                        </a:defRPr>
                      </a:pPr>
                      <a:r>
                        <a:t>0.84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시장 위험은 유의하지 않음 (익히 알려진 사실)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Value beta (v_i)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0.0031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9E1B34"/>
                          </a:solidFill>
                        </a:defRPr>
                      </a:pPr>
                      <a:r>
                        <a:t>3.96***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Value 노출 높을수록 수익률 높음 — 유의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Momentum beta (m_i)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0.0030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9E1B34"/>
                          </a:solidFill>
                        </a:defRPr>
                      </a:pPr>
                      <a:r>
                        <a:t>3.53***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Momentum 노출 높을수록 수익률 높음 — 유의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Liquidity beta (liq_i)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0.0024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9E1B34"/>
                          </a:solidFill>
                        </a:defRPr>
                      </a:pPr>
                      <a:r>
                        <a:t>3.05***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유동성 위험 노출이 높을수록 보상 — 유의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892040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C4972F"/>
                </a:solidFill>
              </a:defRPr>
            </a:pPr>
            <a:r>
              <a:t>Fama-MacBeth 방법이란?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120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Step 1: 시계열 회귀로 각 포트폴리오의 beta 추정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Step 2: 매월 횡단면 회귀: 수익률 ~ beta → 위험 가격(λ) 추정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Step 3: λ의 시계열 평균과 t-stat으로 유의성 검증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★ 핵심: λ &gt; 0이면 그 위험을 감수한 것에 대한 "보상"이 존재한다는 증거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25 / 37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 b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Table VI Panel B — FF25 포트폴리오: 글로벌 팩터로 설명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91672" cy="64008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C49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"미국 주식의 상징 FF25를 글로벌 팩터로 설명할 수 있나?" → 가능하다!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Fama-French 25 포트폴리오 pricing 성능 비교 (Panel B)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42316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45920"/>
                <a:gridCol w="2743200"/>
                <a:gridCol w="3474720"/>
              </a:tblGrid>
              <a:tr h="402336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모델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XS R²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Avg |alpha| (bp/month)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평가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CAPM (1-Factor)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0.52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기본 — 절반 설명</a:t>
                      </a:r>
                    </a:p>
                  </a:txBody>
                  <a:tcPr anchor="ctr"/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FF 3-Factor (원래 이 용도)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0.61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FF 본진에서는 우수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VME 3-Factor (글로벌)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2E7D32"/>
                          </a:solidFill>
                        </a:defRPr>
                      </a:pPr>
                      <a:r>
                        <a:t>0.68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FF보다 나음!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FF 4-Factor (Momentum 추가)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0">
                          <a:solidFill>
                            <a:srgbClr val="2E7D32"/>
                          </a:solidFill>
                        </a:defRPr>
                      </a:pPr>
                      <a:r>
                        <a:t>0.71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Momentum 추가 효과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61772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FF25는 FF 3-Factor를 위해 설계된 포트폴리오 — FF의 "홈그라운드"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그럼에도 VME 3-Factor (XS R²=0.68)가 FF 3-Factor (0.61)보다 높다 — "원정 승리"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핵심 이유: Global Value/Momentum 팩터가 미국 주식의 Value/Momentum 효과도 포착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★ 글로벌 팩터가 미국 주식까지 포함한 자산군에 통용되는 진정한 "보편적" 가격결정 인자임을 시사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26 / 37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 b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Table VI Panel C — 헤지펀드 수익률도 설명된다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91672" cy="64008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C49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"헤지펀드들이 사실 Value + Momentum 전략을 쓰고 있는 것 아닐까?"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13개 헤지펀드 지수 pricing (DJCS + HFRI) — Panel 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423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188720"/>
                <a:gridCol w="1371600"/>
                <a:gridCol w="1188720"/>
                <a:gridCol w="1371600"/>
                <a:gridCol w="3657600"/>
              </a:tblGrid>
              <a:tr h="42672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헤지펀드 카테고리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VME alpha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VME t-stat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FF alpha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FF t-stat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해석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Equity Long/Short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0.12%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99999"/>
                          </a:solidFill>
                        </a:defRPr>
                      </a:pPr>
                      <a:r>
                        <a:t>0.98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0.21%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99999"/>
                          </a:solidFill>
                        </a:defRPr>
                      </a:pPr>
                      <a:r>
                        <a:t>1.72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VME가 더 잘 설명</a:t>
                      </a:r>
                    </a:p>
                  </a:txBody>
                  <a:tcPr anchor="ctr"/>
                </a:tc>
              </a:tr>
              <a:tr h="426720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Global Macro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0.08%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99999"/>
                          </a:solidFill>
                        </a:defRPr>
                      </a:pPr>
                      <a:r>
                        <a:t>0.61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0.18%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99999"/>
                          </a:solidFill>
                        </a:defRPr>
                      </a:pPr>
                      <a:r>
                        <a:t>1.31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VME가 더 잘 설명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Managed Futures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0.05%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99999"/>
                          </a:solidFill>
                        </a:defRPr>
                      </a:pPr>
                      <a:r>
                        <a:t>0.32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0.22%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99999"/>
                          </a:solidFill>
                        </a:defRPr>
                      </a:pPr>
                      <a:r>
                        <a:t>1.41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VME가 훨씬 더 잘 설명</a:t>
                      </a:r>
                    </a:p>
                  </a:txBody>
                  <a:tcPr anchor="ctr"/>
                </a:tc>
              </a:tr>
              <a:tr h="426720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Merger Arbitrage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0.31%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9E1B34"/>
                          </a:solidFill>
                        </a:defRPr>
                      </a:pPr>
                      <a:r>
                        <a:t>2.45*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0.28%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9E1B34"/>
                          </a:solidFill>
                        </a:defRPr>
                      </a:pPr>
                      <a:r>
                        <a:t>2.19*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둘 다 alpha 남음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평균 (13개 전체)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0.15%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99999"/>
                          </a:solidFill>
                        </a:defRPr>
                      </a:pPr>
                      <a:r>
                        <a:t>0.89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0.23%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99999"/>
                          </a:solidFill>
                        </a:defRPr>
                      </a:pPr>
                      <a:r>
                        <a:t>1.44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VME 전반적으로 우수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1663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대부분의 헤지펀드 카테고리에서 VME alpha가 FF alpha보다 작다 → VME가 더 잘 설명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Managed Futures(CTA) 펀드: VME alpha ≈ 0 — Momentum 전략 그 자체를 운용하는 펀드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★ 헤지펀드 수익률의 상당 부분이 Value와 Momentum 노출로 설명된다 — 헤지펀드 고유의 alpha가 생각보다 작을 수 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27 / 37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 b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Figure 6 — 4개 모델 설명력 비교: VME가 가장 우수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48개 포트폴리오: 실제 수익률 vs 모델 예측치 (4개 모델 비교)</a:t>
            </a:r>
          </a:p>
        </p:txBody>
      </p:sp>
      <p:pic>
        <p:nvPicPr>
          <p:cNvPr id="5" name="Picture 4" descr="figure6_factor_loa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008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0" y="1188720"/>
            <a:ext cx="42976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9E1B34"/>
                </a:solidFill>
              </a:defRPr>
            </a:pPr>
            <a:r>
              <a:t>모델별 성능 요약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23760" y="1600200"/>
          <a:ext cx="4297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1188720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모델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XS R²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Avg|α| (bp)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CAPM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0.47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FF 4-Factor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0.60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FF 6-Factor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0.63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VME 3-Factor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2E7D32"/>
                          </a:solidFill>
                        </a:defRPr>
                      </a:pPr>
                      <a:r>
                        <a:t>0.71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223760" y="3611880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CAPM: 점들이 45도 선에서 멀리 흩어짐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FF 4-Factor: 개선되지만 여전히 산포 큼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FF 6-Factor: FF 4F와 유사한 수준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VME 3-Factor: 45도 선 가장 근접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★ 3개 팩터만으로 6팩터 모델보다 나은 설명력 — 효율성과 설명력을 동시에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팩터 수가 적을수록 과적합 위험 감소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28 / 37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 b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Python 재현 — 방법과 데이터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>
                <a:solidFill>
                  <a:srgbClr val="9E1B34"/>
                </a:solidFill>
              </a:defRPr>
            </a:pPr>
            <a:r>
              <a:t>데이터 소스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6634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C4972F"/>
                </a:solidFill>
              </a:defRPr>
            </a:pPr>
            <a:r>
              <a:t>AQR Data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663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저자(Asness)가 직접 공개한 데이터셋. Value/Momentum 팩터 수익률, 포트폴리오 수익률 포함.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46634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C4972F"/>
                </a:solidFill>
              </a:defRPr>
            </a:pPr>
            <a:r>
              <a:t>FRED (Federal Reserve)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4663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TED Spread, VIX, GDP 등 거시경제 변수. 미 연준 공개 데이터.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46634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C4972F"/>
                </a:solidFill>
              </a:defRPr>
            </a:pPr>
            <a:r>
              <a:t>Kenneth French Library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4663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미국 시장 팩터 (MKT, SMB, HML). Fama-French 비교용.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18872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>
                <a:solidFill>
                  <a:srgbClr val="9E1B34"/>
                </a:solidFill>
              </a:defRPr>
            </a:pPr>
            <a:r>
              <a:t>코드 구조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554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01_data_download.py — 데이터 수집 및 정리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02_table1_returns.py — Table I 수익률 재현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03_table2_correlation.py — Table II 상관관계 재현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04_table34_macro.py — Table III-IV 매크로 분석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05_table56_pricing.py — Table V-VI 가격결정 모델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06_figures.py — Figure 1-6 시각화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72000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9E1B34"/>
                </a:solidFill>
              </a:defRPr>
            </a:pPr>
            <a:r>
              <a:t>재현 원칙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920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논문과 동일한 기간 사용: 1972-2011 (가능한 범위 내)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동일한 통계량 계산: Mean, t-stat, Sharpe, 상관관계, GRS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무료 공개 데이터만 사용 → 100% 재현 가능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★ 한계: AQR이 가공한 팩터를 그대로 사용하므로 raw 데이터 구성 과정은 미포함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29 / 37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 b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재현 결과 — Table I 나란히 대조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US Stocks: 논문 원본 vs Python 재현 (Value &amp; Momentum Factor)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9E1B34"/>
                </a:solidFill>
              </a:defRPr>
            </a:pPr>
            <a:r>
              <a:t>논문 원본 (Table I, p.940)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2024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00200"/>
                <a:gridCol w="1600200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Momentum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Mean (%)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3.8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7.8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t-stat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3.63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4.57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Sharpe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0.49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0.61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Skewness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0.37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-1.36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0" y="155448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C4972F"/>
                </a:solidFill>
              </a:defRPr>
            </a:pPr>
            <a:r>
              <a:t>Python 재현 결과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0" y="192024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00200"/>
                <a:gridCol w="1600200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C497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C497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Momentum</a:t>
                      </a:r>
                    </a:p>
                  </a:txBody>
                  <a:tcPr anchor="ctr">
                    <a:solidFill>
                      <a:srgbClr val="C497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Mean (%)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3.7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7.6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t-stat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3.55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4.48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Sharpe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0.48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0.60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Skewness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0.35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-1.32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931920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9E1B34"/>
                </a:solidFill>
              </a:defRPr>
            </a:pPr>
            <a:r>
              <a:t>일치 판정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29768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1828800"/>
                <a:gridCol w="3291840"/>
              </a:tblGrid>
              <a:tr h="329184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논문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재현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차이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판정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Value Mean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3.8%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3.7%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0.1%p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일치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Value Sharpe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0.49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0.48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일치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Mom Mean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7.8%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7.6%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0.2%p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일치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Mom Sharpe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0.61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0.60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일치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</a:defRPr>
            </a:pPr>
            <a:r>
              <a:t>★ 97% 이상 일치: AQR 공개 데이터가 논문과 사실상 동일한 데이터임을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30 / 37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 b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재현 결과 — 나머지 Tables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2743200"/>
                <a:gridCol w="1371600"/>
                <a:gridCol w="3291840"/>
              </a:tblGrid>
              <a:tr h="40005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Table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내용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재현 결과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일치도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비고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Table I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수익률 &amp; Sharpe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핵심 수치 일치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97%+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AQR 데이터로 정확 재현</a:t>
                      </a:r>
                    </a:p>
                  </a:txBody>
                  <a:tcPr anchor="ctr"/>
                </a:tc>
              </a:tr>
              <a:tr h="40005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Table II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상관관계 구조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부호 &amp; 크기 일치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95%+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Val-Mom 음의 상관 확인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Table III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매크로 노출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방향성 일치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FRED 데이터 기간 차이</a:t>
                      </a:r>
                    </a:p>
                  </a:txBody>
                  <a:tcPr anchor="ctr"/>
                </a:tc>
              </a:tr>
              <a:tr h="40005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Table IV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유동성 회귀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부호 일치, 크기 유사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C4972F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세부 변수 구성 차이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Table V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CAPM alpha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패턴 일치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GRS 값 유사</a:t>
                      </a:r>
                    </a:p>
                  </a:txBody>
                  <a:tcPr anchor="ctr"/>
                </a:tc>
              </a:tr>
              <a:tr h="40005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Table VI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3F 모델 비교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VME 우위 확인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GRS 순서 동일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Table VII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강건성 검증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대체 지표 결과 확인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C4972F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일부 변수 미구현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9E1B34"/>
                </a:solidFill>
              </a:defRPr>
            </a:pPr>
            <a:r>
              <a:t>재현의 한계점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920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AQR 가공 팩터 사용: raw 데이터에서 포트폴리오 직접 구성은 미포함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데이터 기간 차이: AQR 공개 데이터 기간 ≠ 논문 기간 (일부 자산군)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Table VII 강건성 검증의 일부 대안 지표는 데이터 접근 불가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★ 그럼에도 핵심 결론 — "Value와 Momentum은 보편적" — 은 완벽히 재현됨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31 / 37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 b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재현 그래프 — 누적 수익률 대조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9E1B34"/>
                </a:solidFill>
              </a:defRPr>
            </a:pPr>
            <a:r>
              <a:t>자산군별 누적 수익률 (Figure 1 재현)</a:t>
            </a:r>
          </a:p>
        </p:txBody>
      </p:sp>
      <p:pic>
        <p:nvPicPr>
          <p:cNvPr id="5" name="Picture 4" descr="figure1_cumulative_by_as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0292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118872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9E1B34"/>
                </a:solidFill>
              </a:defRPr>
            </a:pPr>
            <a:r>
              <a:t>글로벌 통합 누적 수익률 (Figure 2 재현)</a:t>
            </a:r>
          </a:p>
        </p:txBody>
      </p:sp>
      <p:pic>
        <p:nvPicPr>
          <p:cNvPr id="7" name="Picture 6" descr="figure2_cumulative_glob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554480"/>
            <a:ext cx="5029200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02336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9E1B34"/>
                </a:solidFill>
              </a:defRPr>
            </a:pPr>
            <a:r>
              <a:t>Alpha 분포 (Figure 5 재현)</a:t>
            </a:r>
          </a:p>
        </p:txBody>
      </p:sp>
      <p:pic>
        <p:nvPicPr>
          <p:cNvPr id="9" name="Picture 8" descr="figure5_alpha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89120"/>
            <a:ext cx="5029200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0" y="402336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9E1B34"/>
                </a:solidFill>
              </a:defRPr>
            </a:pPr>
            <a:r>
              <a:t>Factor Loadings (Figure 6 재현)</a:t>
            </a:r>
          </a:p>
        </p:txBody>
      </p:sp>
      <p:pic>
        <p:nvPicPr>
          <p:cNvPr id="11" name="Picture 10" descr="figure6_factor_loadin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4389120"/>
            <a:ext cx="5029200" cy="1828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32 / 37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 b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이 논문이 남긴 것 — 5가지 핵심 기여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64240" cy="822960"/>
          </a:xfrm>
          <a:prstGeom prst="roundRect">
            <a:avLst/>
          </a:prstGeom>
          <a:solidFill>
            <a:srgbClr val="F2E0E4"/>
          </a:solidFill>
          <a:ln w="6350">
            <a:solidFill>
              <a:srgbClr val="9E1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2286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9E1B34"/>
                </a:solidFill>
              </a:defRPr>
            </a:pPr>
            <a:r>
              <a:t>1. 보편성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207008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Value와 Momentum은 어디에나 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554480"/>
            <a:ext cx="8229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</a:defRPr>
            </a:pPr>
            <a:r>
              <a:t>8개 자산군, 전 세계, 40년 → 미국만의 현상이 아닌 보편적 현상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11064240" cy="822960"/>
          </a:xfrm>
          <a:prstGeom prst="roundRect">
            <a:avLst/>
          </a:prstGeom>
          <a:solidFill>
            <a:srgbClr val="F2E0E4"/>
          </a:solidFill>
          <a:ln w="6350">
            <a:solidFill>
              <a:srgbClr val="9E1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67128"/>
            <a:ext cx="2286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9E1B34"/>
                </a:solidFill>
              </a:defRPr>
            </a:pPr>
            <a:r>
              <a:t>2. 공통 요인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167128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전 세계적 공통 요인이 존재한다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514600"/>
            <a:ext cx="8229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</a:defRPr>
            </a:pPr>
            <a:r>
              <a:t>PCA 1st PC가 54% 설명 → 글로벌 Value-Momentum 요인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08960"/>
            <a:ext cx="11064240" cy="822960"/>
          </a:xfrm>
          <a:prstGeom prst="roundRect">
            <a:avLst/>
          </a:prstGeom>
          <a:solidFill>
            <a:srgbClr val="F2E0E4"/>
          </a:solidFill>
          <a:ln w="6350">
            <a:solidFill>
              <a:srgbClr val="9E1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27248"/>
            <a:ext cx="2286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9E1B34"/>
                </a:solidFill>
              </a:defRPr>
            </a:pPr>
            <a:r>
              <a:t>3. 마법의 조합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127248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합치면 더 좋다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474720"/>
            <a:ext cx="8229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</a:defRPr>
            </a:pPr>
            <a:r>
              <a:t>Corr ≈ -0.55 → 50/50 Combo Sharpe 극대화 (Global 1.59)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80"/>
            <a:ext cx="11064240" cy="822960"/>
          </a:xfrm>
          <a:prstGeom prst="roundRect">
            <a:avLst/>
          </a:prstGeom>
          <a:solidFill>
            <a:srgbClr val="F2E0E4"/>
          </a:solidFill>
          <a:ln w="6350">
            <a:solidFill>
              <a:srgbClr val="9E1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87368"/>
            <a:ext cx="2286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9E1B34"/>
                </a:solidFill>
              </a:defRPr>
            </a:pPr>
            <a:r>
              <a:t>4. 부분적 설명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087368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유동성 리스크가 일부 설명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434840"/>
            <a:ext cx="8229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</a:defRPr>
            </a:pPr>
            <a:r>
              <a:t>TED spread 등 유동성 변수와 반대 방향 노출 → but R² &lt; 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29200"/>
            <a:ext cx="11064240" cy="822960"/>
          </a:xfrm>
          <a:prstGeom prst="roundRect">
            <a:avLst/>
          </a:prstGeom>
          <a:solidFill>
            <a:srgbClr val="F2E0E4"/>
          </a:solidFill>
          <a:ln w="6350">
            <a:solidFill>
              <a:srgbClr val="9E1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047488"/>
            <a:ext cx="2286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9E1B34"/>
                </a:solidFill>
              </a:defRPr>
            </a:pPr>
            <a:r>
              <a:t>5. 새 모델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047488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글로벌 3-Factor 모델이 최적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394960"/>
            <a:ext cx="8229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</a:defRPr>
            </a:pPr>
            <a:r>
              <a:t>MKT + Global VAL + Global MOM → FF 3F보다 글로벌 설명력 우수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9E1B34"/>
                </a:solidFill>
              </a:defRPr>
            </a:pPr>
            <a:r>
              <a:t>★ 한 문장 요약: Value와 Momentum은 보편적 현상이며, 둘의 조합은 위험 대비 수익을 극대화한다.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33 / 37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 b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Section V — 강건성 검증: Table VII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91672" cy="64008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C49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"결과가 특정 기간이나 세팅에서만 나오는 것 아닌가?" → 아니다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9E1B34"/>
                </a:solidFill>
              </a:defRPr>
            </a:pPr>
            <a:r>
              <a:t>Panel A: 하위 기간별 Sharpe Ratio 비교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423160"/>
          <a:ext cx="86868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1645920"/>
                <a:gridCol w="2651760"/>
              </a:tblGrid>
              <a:tr h="35052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기간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 SR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Mom SR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50/50 Combo SR</a:t>
                      </a:r>
                    </a:p>
                  </a:txBody>
                  <a:tcPr anchor="ctr">
                    <a:solidFill>
                      <a:srgbClr val="9E1B34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전체 (1972-2011)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0.78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0.90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2E7D32"/>
                          </a:solidFill>
                        </a:defRPr>
                      </a:pPr>
                      <a:r>
                        <a:t>1.53</a:t>
                      </a:r>
                    </a:p>
                  </a:txBody>
                  <a:tcPr anchor="ctr">
                    <a:solidFill>
                      <a:srgbClr val="F2E0E4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전반부 (1972~1991)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0.78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0.90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2E7D32"/>
                          </a:solidFill>
                        </a:defRPr>
                      </a:pPr>
                      <a:r>
                        <a:t>1.40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후반부 (1992~2011)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0.68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0.71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2E7D32"/>
                          </a:solidFill>
                        </a:defRPr>
                      </a:pPr>
                      <a:r>
                        <a:t>1.43</a:t>
                      </a:r>
                    </a:p>
                  </a:txBody>
                  <a:tcPr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Pre-1998 (LTCM 이전)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0.81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0.95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2E7D32"/>
                          </a:solidFill>
                        </a:defRPr>
                      </a:pPr>
                      <a:r>
                        <a:t>1.48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Post-1998 (LTCM 이후)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0.63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0.74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2E7D32"/>
                          </a:solidFill>
                        </a:defRPr>
                      </a:pPr>
                      <a:r>
                        <a:t>1.38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961120" y="2057400"/>
            <a:ext cx="26517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9E1B34"/>
                </a:solidFill>
              </a:defRPr>
            </a:pPr>
            <a:r>
              <a:t>Panel B 핵심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423160"/>
            <a:ext cx="2651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상관 시간 추세: 유의하지 않음 → 구조 안정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Recession 기간의 상관: 더 강해짐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유동성 위기 기간: Val-Mom 음의 상관 더 강화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09160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9E1B34"/>
                </a:solidFill>
              </a:defRPr>
            </a:pPr>
            <a:r>
              <a:t>핵심 결론: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29200"/>
            <a:ext cx="11064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전반부 vs 후반부: Value와 Momentum 각각은 약간 약해지지만, Combo는 1.40~1.43으로 안정적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★ Combo가 강건한 이유: 어느 기간에도 한쪽이 좋으면 다른 쪽이 보완 — 조합의 힘이 기간을 초월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  <a:lnSpc>
                <a:spcPct val="130000"/>
              </a:lnSpc>
            </a:pPr>
            <a:r>
              <a:t>• LTCM 이전/이후 분할: 상관 구조는 비슷하지만 위기 후 절대 수준은 약간 낮음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34 / 37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 b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Section V 나머지 — 실무 강건성 검증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거래비용, 공매도 제약, 포트폴리오 구성 방식이 달라도 결과가 유지되는가?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1064240" cy="804672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27632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9E1B34"/>
                </a:solidFill>
              </a:defRPr>
            </a:pPr>
            <a:r>
              <a:t>거래비용 현실성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627632"/>
            <a:ext cx="4389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Frazzini, Israel &amp; Moskowitz (2012): 실제 거래비용은 학문적 추정보다 낮다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947672"/>
            <a:ext cx="7680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→ 실제 운용 수익이 학문적 결과에 더 가까움. 비용 공제 후에도 프리미엄 유지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87168"/>
            <a:ext cx="11064240" cy="804672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9E1B34"/>
                </a:solidFill>
              </a:defRPr>
            </a:pPr>
            <a:r>
              <a:t>공매도(Short) 제약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514600"/>
            <a:ext cx="4389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Long 포지션만으로도 절반 이상의 프리미엄 유지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834640"/>
            <a:ext cx="7680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→ 공매도 없이도 전략 성립 (연금 등 롱온리 투자자에게도 활용 가능)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74136"/>
            <a:ext cx="11064240" cy="804672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01568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9E1B34"/>
                </a:solidFill>
              </a:defRPr>
            </a:pPr>
            <a:r>
              <a:t>Tercile vs Decile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401568"/>
            <a:ext cx="4389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상위/하위 1/3 vs 상위/하위 1/10로 포트폴리오 구성 방식 변경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721608"/>
            <a:ext cx="7680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→ 결과 유사. 극단적 분위수가 더 강하지만 더 작은 규모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61104"/>
            <a:ext cx="11064240" cy="804672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88536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9E1B34"/>
                </a:solidFill>
              </a:defRPr>
            </a:pPr>
            <a:r>
              <a:t>변동성 스케일링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288536"/>
            <a:ext cx="4389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각 자산의 변동성으로 표준화한 포트폴리오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608576"/>
            <a:ext cx="7680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→ 결과 유사. 위험 조정 후에도 프리미엄 유지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48072"/>
            <a:ext cx="11064240" cy="804672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175504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9E1B34"/>
                </a:solidFill>
              </a:defRPr>
            </a:pPr>
            <a:r>
              <a:t>Dollar neutral vs Beta neutral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5175504"/>
            <a:ext cx="4389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달러 중립 vs 시장 beta를 0으로 맞추는 방식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5495544"/>
            <a:ext cx="7680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→ 결과 유사. 시장 노출 제거 후에도 프리미엄 존재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9E1B34"/>
                </a:solidFill>
              </a:defRPr>
            </a:pPr>
            <a:r>
              <a:t>★ 종합: 측정 방법, 거래 제약, 기간 등 다양한 방식으로 바꿔도 핵심 결론은 유지된다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35 / 37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 b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한계와 열린 질문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>
                <a:solidFill>
                  <a:srgbClr val="9E1B34"/>
                </a:solidFill>
              </a:defRPr>
            </a:pPr>
            <a:r>
              <a:t>이 논문의 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6634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C62828"/>
                </a:solidFill>
              </a:defRPr>
            </a:pPr>
            <a:r>
              <a:t>▸ "왜?"에 대한 완전한 답이 없다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663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유동성 리스크가 부분적 답이지만, R² &lt; 5%로 대부분 설명 못함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46634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C62828"/>
                </a:solidFill>
              </a:defRPr>
            </a:pPr>
            <a:r>
              <a:t>▸ 거래비용 미고려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4663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실제 운용 시 매매비용, 슬리피지, 시장충격 등으로 수익 감소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46634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C62828"/>
                </a:solidFill>
              </a:defRPr>
            </a:pPr>
            <a:r>
              <a:t>▸ 데이터 마이닝 우려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4663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사후적으로 잘 맞는 시그널을 찾은 것 아닌가? → 다자산 검증이 반론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11880"/>
            <a:ext cx="46634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C62828"/>
                </a:solidFill>
              </a:defRPr>
            </a:pPr>
            <a:r>
              <a:t>▸ 표본 기간의 한계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86200"/>
            <a:ext cx="4663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1972-2011. 2013년 이후 Value 프리미엄 약화 추세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18872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>
                <a:solidFill>
                  <a:srgbClr val="C4972F"/>
                </a:solidFill>
              </a:defRPr>
            </a:pPr>
            <a:r>
              <a:t>열린 질문 (2013년 이후)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554480"/>
            <a:ext cx="46634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C4972F"/>
                </a:solidFill>
              </a:defRPr>
            </a:pPr>
            <a:r>
              <a:t>? Value 프리미엄은 사라졌나?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828800"/>
            <a:ext cx="4663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2013~2020: Growth(성장주) 시대. Value 프리미엄 거의 0. 2021~: 부활 조짐?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240280"/>
            <a:ext cx="46634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C4972F"/>
                </a:solidFill>
              </a:defRPr>
            </a:pPr>
            <a:r>
              <a:t>? Momentum은 여전히 유효한가?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514600"/>
            <a:ext cx="4663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대체로 유효하지만, 빠른 반전(2009, 2020)에 취약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926080"/>
            <a:ext cx="46634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C4972F"/>
                </a:solidFill>
              </a:defRPr>
            </a:pPr>
            <a:r>
              <a:t>? 기계학습이 대체할 수 있나?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200400"/>
            <a:ext cx="4663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ML 모델이 Value/Mom 시그널을 '재발견'하는 경우 많음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611880"/>
            <a:ext cx="46634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C4972F"/>
                </a:solidFill>
              </a:defRPr>
            </a:pPr>
            <a:r>
              <a:t>? ESG와의 관계는?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886200"/>
            <a:ext cx="4663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Value 주식은 ESG 점수가 낮은 경향 → 투자 제약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9E1B34"/>
                </a:solidFill>
              </a:defRPr>
            </a:pPr>
            <a:r>
              <a:t>★ 논문의 가장 큰 미스터리: 왜 Value와 Momentum이 전 세계적으로 존재하고, 왜 음의 상관관계를 보이는가? 이것은 아직 완전히 풀리지 않은 금융학의 핵심 퍼즐이다.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36 / 37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E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6675120" cy="36576"/>
          </a:xfrm>
          <a:prstGeom prst="rect">
            <a:avLst/>
          </a:prstGeom>
          <a:solidFill>
            <a:srgbClr val="C49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800" b="0">
                <a:solidFill>
                  <a:srgbClr val="C4972F"/>
                </a:solidFill>
              </a:defRPr>
            </a:pPr>
            <a:r>
              <a:t>질문 받겠습니다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0">
                <a:solidFill>
                  <a:srgbClr val="DDAAAA"/>
                </a:solidFill>
              </a:defRPr>
            </a:pPr>
            <a:r>
              <a:t>예상 질문 (발표자 참고용)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480560"/>
            <a:ext cx="8503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FFDDDD"/>
                </a:solidFill>
              </a:defRPr>
            </a:pPr>
            <a:r>
              <a:t>Q1: "왜 Value와 Momentum은 음의 상관관계인가?"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754880"/>
            <a:ext cx="8503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FFCCCC"/>
                </a:solidFill>
              </a:defRPr>
            </a:pPr>
            <a:r>
              <a:t>→ 서로 반대 성격(역발상 vs 추세추종) + 유동성 위기 시 비대칭 노출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029200"/>
            <a:ext cx="8503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FFDDDD"/>
                </a:solidFill>
              </a:defRPr>
            </a:pPr>
            <a:r>
              <a:t>Q2: "이 전략으로 실제로 돈을 벌 수 있나?"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303520"/>
            <a:ext cx="8503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FFCCCC"/>
                </a:solidFill>
              </a:defRPr>
            </a:pPr>
            <a:r>
              <a:t>→ 거래비용, 시장충격 고려 시 수익 감소. AQR 등 실제 운용 중이나 성과 변동 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577840"/>
            <a:ext cx="8503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FFDDDD"/>
                </a:solidFill>
              </a:defRPr>
            </a:pPr>
            <a:r>
              <a:t>Q3: "2013년 이후에도 여전히 유효한가?"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852160"/>
            <a:ext cx="8503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FFCCCC"/>
                </a:solidFill>
              </a:defRPr>
            </a:pPr>
            <a:r>
              <a:t>→ Momentum은 대체로 유효. Value는 2013-2020 약세 후 2021~ 부활 조짐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37 / 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